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A33D"/>
    <a:srgbClr val="15608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78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work\aared\tools\chart-oracle\chartex-oracle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waterfall!$A$2:$A$6</cx:f>
        <cx:lvl ptCount="5">
          <cx:pt idx="0">البداية</cx:pt>
          <cx:pt idx="1">المبيعات</cx:pt>
          <cx:pt idx="2">التكاليف</cx:pt>
          <cx:pt idx="3">الضرائب</cx:pt>
          <cx:pt idx="4">الصافي</cx:pt>
        </cx:lvl>
      </cx:strDim>
      <cx:numDim type="val">
        <cx:f>waterfall!$B$2:$B$6</cx:f>
        <cx:lvl ptCount="5" formatCode="General">
          <cx:pt idx="0">100</cx:pt>
          <cx:pt idx="1">60</cx:pt>
          <cx:pt idx="2">-40</cx:pt>
          <cx:pt idx="3">-15</cx:pt>
          <cx:pt idx="4">105</cx:pt>
        </cx:lvl>
      </cx:numDim>
    </cx:data>
  </cx:chartData>
  <cx:chart>
    <cx:title pos="t" align="ctr" overlay="0"/>
    <cx:plotArea>
      <cx:plotAreaRegion>
        <cx:series layoutId="waterfall" uniqueId="{00000000-D1D3-4E07-9A76-FCE8C7D96EFB}">
          <cx:tx>
            <cx:txData>
              <cx:f>waterfall!$B$1</cx:f>
              <cx:v>Amount</cx:v>
            </cx:txData>
          </cx:tx>
          <cx:dataLabels pos="outEnd">
            <cx:visibility seriesName="0" categoryName="0" value="1"/>
          </cx:dataLabels>
          <cx:dataId val="0"/>
          <cx:layoutPr>
            <cx:visibility connectorLines="1"/>
            <cx:subtotals>
              <cx:idx val="4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8:57.857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839 1 24575,'0'0'0,"0"7"0,0 22 0,0 16 0,0 26 0,-9 30 0,-9 11 0,-9 11 0,1 16 0,-5 23 0,-12 1 0,-5 8 0,-2 4 0,-18 3 0,0 9 0,10-7 0,-3-10 0,12-10 0,5-10 0,2 1 0,11-5 0,-1-30 0,9-13 0,6-20 0,6-7 0,6-2 0,2 1 0,3 3 0,-8-5 0,0 3 0,1 1 0,0 4 0,2-6 0,-6 2 0,0-24 0,1-35 0,10-16 0,0-1 0,0-1 0,0 0 0,0 0 0,0 0 0,-1 0 0,1 0 0,0 1 0,0-1 0,0 0 0,0 0 0,0 0 0,-1 0 0,1 0 0,0 0 0,0 0 0,0 1 0,0-1 0,-1 0 0,1 0 0,0 0 0,0 0 0,0 0 0,0 0 0,-1 0 0,1 0 0,0 0 0,0 0 0,0 0 0,-1 0 0,1 0 0,0 0 0,0 0 0,0 0 0,0-1 0,-1 1 0,1 0 0,0 0 0,0 0 0,0 0 0,0 0 0,0 0 0,-1 0 0,1 0 0,0-1 0,0 1 0,0 0 0,0 0 0,0 0 0,0 0 0,0 0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8:58.72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2108.37915"/>
      <inkml:brushProperty name="anchorY" value="-2487.20459"/>
      <inkml:brushProperty name="scaleFactor" value="0.5"/>
    </inkml:brush>
  </inkml:definitions>
  <inkml:trace contextRef="#ctx0" brushRef="#br0">0 1 24575,'0'0'0,"8"0"0,11 9 0,0 17 0,15 20 0,-3 16 0,-4 12 0,-6 19 0,10 5 0,-5 3 0,5 26 0,3 16 0,3 34 0,13 20 0,1 25 0,20 19 0,0-13 0,16-1 0,-5-12 0,3-11 0,1-20 0,-17-16 0,-9-23 0,-8-20 0,-14-15 0,-4-22 0,-1-6 0,2-5 0,2 10 0,2 2 0,-6-6 0,0-9 0,-6 0 0,-8-8 0,-7-6 0,-5-24 0,-4-31 0,-3-14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8:59.52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593.8349"/>
      <inkml:brushProperty name="anchorY" value="-7791.93555"/>
      <inkml:brushProperty name="scaleFactor" value="0.5"/>
    </inkml:brush>
  </inkml:definitions>
  <inkml:trace contextRef="#ctx0" brushRef="#br0">1084 0 24575,'0'0'0,"-8"0"0,-11 0 0,-17 0 0,-17 0 0,-32 0 0,-20 0 0,-26 0 0,-2 0 0,5 0 0,8 0 0,19 0 0,17 0 0,33 0 0,22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03.8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24575,'60'1103'0,"-59"-1090"0,24 184 0,50 195 0,-12-83 0,101 478 0,-103-477 0,10 44 0,-63-330 0,1-1 0,1 0 0,14 24 0,3 6 0,-9 4 108,-12-36-269,-9-40-1151,-6-21-5514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05.7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1 277 24575,'-1'-7'0,"1"0"0,1 0 0,-1 0 0,1 1 0,0-1 0,1 0 0,0 1 0,0-1 0,0 1 0,1-1 0,4-6 0,-3 6 0,1 1 0,1 0 0,-1 0 0,1 1 0,0 0 0,1 0 0,-1 0 0,1 1 0,12-7 0,24-11 0,2 2 0,0 2 0,1 1 0,0 3 0,49-8 0,-63 16 0,0 1 0,-1 2 0,1 1 0,0 1 0,0 2 0,0 1 0,0 2 0,54 13 0,-71-11 0,1 0 0,-2 1 0,1 1 0,-1 0 0,0 1 0,-1 0 0,0 1 0,-1 0 0,0 2 0,14 15 0,11 18 0,48 74 0,-70-96 0,91 136 0,117 234 0,-215-376 0,0-1 0,-2 1 0,0 0 0,0 1 0,-2-1 0,0 1 0,-1 0 0,-1 0 0,-1 0 0,0 0 0,-2 1 0,0-1 0,0 0 0,-2 0 0,0 0 0,-2-1 0,0 1 0,0-1 0,-2 0 0,-15 30 0,2-10 0,-1-1 0,-2-1 0,-1-1 0,-1-2 0,-2 0 0,-2-2 0,0 0 0,-2-3 0,-62 44 0,80-63 0,-99 68 0,-126 61 0,250-140 0,1 1 0,-1 0 0,22 0 0,-7 0 0,467-9 0,-146 9 0,-192-17 0,-129 13 0,1 1 0,0 1 0,0 2 0,0 1 0,0 1 0,0 1 0,48 9 0,-62-6 0,0 2 0,0 0 0,0 0 0,-1 1 0,1 1 0,-2 0 0,14 12 0,80 75 0,-90-80 0,284 313 0,-175-185 0,-116-131 0,1 1 0,-2-1 0,0 1 0,-1 1 0,0 0 0,-1 0 0,0 0 0,-1 0 0,-1 1 0,0 0 0,2 25 0,-1 13 0,-2 0 0,-6 54 0,2-61 0,0-35 0,0 0 0,-1 0 0,0-1 0,-1 1 0,0-1 0,0 1 0,-1-1 0,-1 0 0,0 0 0,-7 11 0,-8 8 0,-42 47 0,55-69 0,-48 53 0,-3-3 0,-84 64 0,-139 80 0,198-144 0,43-32 0,0-2 0,-2-3 0,-50 19 0,-27 12 0,-211 113 0,124-70 0,108-51 0,76-32 0,-1-2 0,1 0 0,-1-1 0,-1-1 0,0-2 0,1 0 0,-2-1 0,1-2 0,-25 0 0,48-2-23,-1 0 0,1 0 0,0 1 0,0-2 0,0 1-1,0 0 1,0 0 0,0 0 0,-1 0 0,1-1 0,0 1 0,0 0-1,0-1 1,0 1 0,0-1 0,0 0 0,0 1 0,0-1 0,0 0-1,1 1 1,-1-1 0,0 0 0,0 0 0,1 0 0,-1 0 0,0 0-1,1 0 1,-1 1 0,1-2 0,-1 1 0,1 0 0,-1 0 0,1 0-1,0 0 1,0 0 0,-1 0 0,1 0 0,0 0 0,0-1 0,0 1 0,0 0-1,0 0 1,1 0 0,-1 0 0,0 0 0,0 0 0,1 0 0,-1 0-1,1-1 1,-1 1 0,1 0 0,-1 1 0,1-1 0,0 0 0,-1 0-1,1 0 1,0 0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09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1865 1 8192,'-9'1'1779,"1"1"-1,-1 0 1,1 0 0,0 1 0,0 0 0,0 0 0,0 1 0,-14 10 0,-14 4 233,-7-1-2148,-1-2 0,-1-2 1,0-2-1,0-2 0,-67 5 0,-233-9-1418,320-5 1447,5-1-808,-1 1 1,1 1-1,0 1 1,0 1-1,0 0 1,0 2 0,0 0-1,1 1 1,0 1-1,0 1 1,1 1-1,0 0 1,1 1-1,-1 1 1,2 1-1,-27 24 1,-103 117 914,44-43 0,28-33 0,-80 109 0,128-150 0,1 2 0,2 1 0,1 1 0,3 0 0,-27 80 0,32-74 0,3 0 0,2 0 0,1 1 0,3 0 0,2 1 0,1-1 0,7 57 0,29 916 0,-32-972 0,1-1 0,3 1 0,2-1 0,14 47 0,70 178 0,-57-193 932,2-2 0,82 123 0,-95-166 805,1 0 0,1-1 0,2-2 0,36 31-1,-40-41 1434,40 25 0,-42-32-3150,-1 0 0,2-1 0,0-2 1,0 0-1,1-2 0,0 0 0,1-2 0,-1 0 0,37 4 1,78-3-21,154-10 0,-116-3 0,-130 5 0,-15 2 0,0-2 0,0-1 0,0-2 0,0-1 0,0-1 0,-1-2 0,38-13 0,21-26 0,-61 29 0,40-16 0,82-25 0,184-43 0,-317 97 0,0-1 0,0-1 0,0 0 0,-1-2 0,30-16 0,-3-10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12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9830,'17'886'7756,"-3"-571"-5609,14 213 537,-13-381-1093,53 228 1,-45-285-1304,50 239 38,-57-216-326,55 192 0,-41-232-91,-29-71 66,0 0 1,0 0 0,0 0-1,0 0 1,0-1 0,0 1 0,1 0-1,-1-1 1,1 0 0,-1 1 0,1-1-1,0 0 1,-1 1 0,4 0 0,11-6-68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13.4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9830,'606'0'4415,"-589"0"-4261,-1 1 1,1 0 0,-1 1 0,0 1-1,17 6 1,-24-7-59,-1 1 1,0 1-1,0-1 1,-1 2-1,1-1 0,-1 1 1,0 0-1,0 0 0,0 1 1,-1 0-1,8 9 0,15 25 480,-2 1 0,35 74 0,0-1 587,-6-23-358,115 208 1341,-149-253-1787,-3 1 1,-1 0-1,-2 1 1,17 93 0,-26-74 218,-1 81 0,-5-79-62,11 74 1,1-38-508,-5 0 1,-4 1-1,-5 0 0,-4 0 0,-39 206 1,42-299-10,0 1 0,-1-1 0,-1-1 0,0 1 0,-1-1 0,0 1 0,-1-1 0,0-1 0,-1 1 0,0-1 0,-1 0 0,0-1 0,-1 0 0,0 0 0,-17 14 0,9-10 0,0-2 0,0 1 0,1 1 0,0 0 0,1 1 0,1 1 0,1 1 0,0-1 0,1 2 0,-13 24 0,15-18 0,-2 8 0,-2 0 0,0-1 0,-3-1 0,0 0 0,-2-1 0,-31 36 0,-20 4 0,-101 77 0,124-108 0,23-16 0,10-5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64A56-4393-4CB6-85C6-C90BB7A8548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3D92B-5665-433D-940F-4B232DD9F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88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2E85-0A55-EDB0-AADD-F7FC342EB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5EA22-B711-2214-05DD-C4EEDFBD8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DAC15-53C1-AAE7-BF81-A2789C97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41A7F-F981-4501-AAE0-06F6CB326412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89F7-465E-3589-A9EC-76CB9EA4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45EC9-F74F-7030-5FC5-32901567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2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0CF0-C3C4-9BC9-6849-3D4473FB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D1C8-A812-AAEB-3A74-0AF192AC1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CB798-1C97-A2F4-6308-AA38A370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6759-6820-42B3-B9BE-972720AE0218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3081-E158-E6FB-2762-B4CDE454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7FDF3-D23C-D4C5-1453-6F5FDB11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6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BF08-FF24-F255-2D15-4928C88B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0C573-51F2-9C0B-6B9B-95A0AB61D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3268D-02ED-0B3C-3D84-55AE22CD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5D86-3AF6-469E-9631-8585AF639EE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8DF7-93DD-0CD3-CA8D-00A6FFE24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FDAB-4860-1F51-91E3-9B484EA9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0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BA3F-A7F2-6C87-E2E1-1A706D87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F5FE-E126-4A4C-EB2D-205D4DE8A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31A23-E698-8727-7A86-9F1932E6C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C7C3B-5DA4-7C0B-F09C-6B09FA66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516-D53A-4B36-A577-E8486E25D0EC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19A78-0921-9799-08D8-8063B2E4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9B6FD-277D-D684-D9B6-8F228F51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0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1791-8C4D-476B-A13F-7117D87D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46E6A-16FE-0380-75A0-4F201BF19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2FFA3-EC3D-C77F-AB2C-D91E0E06B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51C3C-A080-D3C4-AF91-3650562C4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524AC0-3AB4-AF1C-69E9-C73721EC3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BCB6F-35D9-6842-5082-04632C97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30B0-F99E-4FCA-83EF-31E10F2B66B1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4A10E-0609-4949-D07C-24216BAC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F3FAB-79B4-D8E1-4C83-DCEDF1D8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9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2D6D-5943-F34B-7067-4DAC67F2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79022-B079-7ABF-D3B2-F047759A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5E36-5297-403D-B499-FD865F8C5A4F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7FED0-1B72-AE3D-B991-3011FF5F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CC9E8-0221-DF95-C453-A5DD6A22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6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CFF55-F674-5F6C-8BD9-E18BCA6E7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4417-72BA-4D8F-8104-BFB5B423E2DD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02B47-6242-3F53-E74D-1575919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9FA96-3699-AF91-0BF5-A96D1932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8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C384-7C4E-90A9-D052-F1771813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FE755-DD9C-48C9-18E0-7A0666EE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9BE60-2370-2323-479D-AFA08D38D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8FE00-15CF-AC54-252E-ABDE1C373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CC0FA-F1D1-458D-9491-18A8D18048F7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E5E9E-AAE3-D7D0-47D5-C66440C4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A5690-0496-E6C1-A9AF-8907A895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4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5BAA-4906-91B5-7D73-32200A44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2BF2F-08B8-A898-0A46-6A66C6D0B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90846-D30F-C16B-667D-463BC3FE1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4F419-0976-E7E5-5798-B5F14882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F3E84-4616-4F9E-891F-D3C933FF2937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8254-5249-6893-E4C2-D3AA0B44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49A63-D4F7-F349-4D96-2CEC26D6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8DA9-D6EB-5280-92A3-0CEE773B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7DACA-2285-EE5F-EB00-EAF4AD4D6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76784-F9EB-1DB9-4260-5FF19AFB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3943D-1B76-47AC-8196-C4B25463BF4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D3B1A-2397-B8B0-4543-3E79EE37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B0AD4-A712-1A71-B3C7-704CB340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3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65575B-5A82-335B-D795-8E4F6CE2A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876E3-F3FF-AAB6-9DFD-EEDF4F0DE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D0E5E-BA71-31DF-D295-A7313B21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88C43-274A-49F7-9E8E-741661AA3B8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F11CB-CA70-286A-0CAE-E522968C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CFBA2-B2B0-C84C-C4EC-2505C6ED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5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ayou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150B-B92B-63DC-988E-EA6EF944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38B06-BF74-5654-F5F0-B5DB8229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DF4F-F028-4B81-B3D4-6037FCFC159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Layout A graphic">
            <a:extLst>
              <a:ext uri="{FF2B5EF4-FFF2-40B4-BE49-F238E27FC236}">
                <a16:creationId xmlns:a16="http://schemas.microsoft.com/office/drawing/2014/main" id="{A4D09DA9-197B-0F4A-06D7-DB10B6473EB7}"/>
              </a:ext>
            </a:extLst>
          </p:cNvPr>
          <p:cNvSpPr/>
          <p:nvPr userDrawn="1"/>
        </p:nvSpPr>
        <p:spPr>
          <a:xfrm>
            <a:off x="381000" y="685800"/>
            <a:ext cx="2794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/>
              <a:t>رسم التخطيط أ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28789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ayou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6521-8CFB-4D01-74E8-723187B4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47D3F-5AE9-4574-C420-CD850FC8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DF4F-F028-4B81-B3D4-6037FCFC159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Layout B graphic">
            <a:extLst>
              <a:ext uri="{FF2B5EF4-FFF2-40B4-BE49-F238E27FC236}">
                <a16:creationId xmlns:a16="http://schemas.microsoft.com/office/drawing/2014/main" id="{14A9AAB3-6159-DF59-074C-EAFE3016E7D8}"/>
              </a:ext>
            </a:extLst>
          </p:cNvPr>
          <p:cNvSpPr/>
          <p:nvPr userDrawn="1"/>
        </p:nvSpPr>
        <p:spPr>
          <a:xfrm>
            <a:off x="381000" y="685800"/>
            <a:ext cx="2794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/>
              <a:t>رسم التخطيط ب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1282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31F83-A7A6-E828-6944-0E106048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51313-CFA9-9741-4468-CC22911AA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C4D4F-E038-9990-166C-8816DF65E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CAA63-4269-45C0-A8A2-D62AE2EC413F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05AB0-D6E5-33C3-F419-39242E2DA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3F894-82CF-6721-FE9C-6DEAC0F42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Page &lt;#&gt;</a:t>
            </a:r>
          </a:p>
        </p:txBody>
      </p:sp>
    </p:spTree>
    <p:extLst>
      <p:ext uri="{BB962C8B-B14F-4D97-AF65-F5344CB8AC3E}">
        <p14:creationId xmlns:p14="http://schemas.microsoft.com/office/powerpoint/2010/main" val="71822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E90674-C2C1-EE23-B14D-9859AD21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95541-4A69-8667-EE84-A8518AC74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32A8D-7850-3170-169C-FACD9064E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3A6A4-31A5-4BF1-8F46-4A08E4DED6B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D2B44-AE81-2D59-EF35-488D48E80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F755E-3A70-91ED-AC02-517E8BD9E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DDF4F-F028-4B81-B3D4-6037FCFC15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aster logo">
            <a:extLst>
              <a:ext uri="{FF2B5EF4-FFF2-40B4-BE49-F238E27FC236}">
                <a16:creationId xmlns:a16="http://schemas.microsoft.com/office/drawing/2014/main" id="{670868CD-C909-BF29-7562-E0BC1DE02FDE}"/>
              </a:ext>
            </a:extLst>
          </p:cNvPr>
          <p:cNvSpPr/>
          <p:nvPr userDrawn="1"/>
        </p:nvSpPr>
        <p:spPr>
          <a:xfrm>
            <a:off x="381000" y="177800"/>
            <a:ext cx="2794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/>
              <a:t>شعار الاستوديو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8433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A1D7-2391-17A8-BB07-F4ADC9119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0273" y="493880"/>
            <a:ext cx="9144000" cy="1027279"/>
          </a:xfrm>
        </p:spPr>
        <p:txBody>
          <a:bodyPr/>
          <a:lstStyle/>
          <a:p>
            <a:pPr algn="r" rtl="1"/>
            <a:r>
              <a:rPr lang="en-US" b="1" dirty="0" err="1"/>
              <a:t>تقرير</a:t>
            </a:r>
            <a:r>
              <a:rPr lang="en-US" b="1" dirty="0"/>
              <a:t> </a:t>
            </a:r>
            <a:r>
              <a:rPr lang="en-US" b="1" dirty="0" err="1"/>
              <a:t>الإنتاج</a:t>
            </a:r>
            <a:r>
              <a:rPr lang="en-US" b="1" dirty="0"/>
              <a:t> </a:t>
            </a:r>
            <a:r>
              <a:rPr lang="en-US" b="1" dirty="0" err="1"/>
              <a:t>الأسبوعي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C0EEE-3EEF-0847-6857-16774E425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0273" y="1949701"/>
            <a:ext cx="9144000" cy="1900404"/>
          </a:xfrm>
        </p:spPr>
        <p:txBody>
          <a:bodyPr>
            <a:norm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تم</a:t>
            </a:r>
            <a:r>
              <a:rPr lang="en-US" dirty="0"/>
              <a:t> </a:t>
            </a:r>
            <a:r>
              <a:rPr lang="en-US" dirty="0" err="1"/>
              <a:t>تثبيت</a:t>
            </a:r>
            <a:r>
              <a:rPr lang="en-US" dirty="0"/>
              <a:t> </a:t>
            </a:r>
            <a:r>
              <a:rPr lang="en-US" dirty="0" err="1"/>
              <a:t>لقطتين</a:t>
            </a:r>
            <a:r>
              <a:rPr lang="en-US" dirty="0"/>
              <a:t> </a:t>
            </a:r>
            <a:r>
              <a:rPr lang="en-US" dirty="0" err="1"/>
              <a:t>وإغلاق</a:t>
            </a:r>
            <a:r>
              <a:rPr lang="en-US" dirty="0"/>
              <a:t> </a:t>
            </a:r>
            <a:r>
              <a:rPr lang="en-US" dirty="0" err="1"/>
              <a:t>مشهد</a:t>
            </a:r>
            <a:r>
              <a:rPr lang="en-US" dirty="0"/>
              <a:t> </a:t>
            </a:r>
            <a:r>
              <a:rPr lang="en-US" dirty="0" err="1"/>
              <a:t>واحد</a:t>
            </a:r>
            <a:endParaRPr lang="en-US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الساعات</a:t>
            </a:r>
            <a:r>
              <a:rPr lang="en-US" dirty="0"/>
              <a:t> </a:t>
            </a:r>
            <a:r>
              <a:rPr lang="en-US" dirty="0" err="1"/>
              <a:t>المسجلة</a:t>
            </a:r>
            <a:r>
              <a:rPr lang="en-US" dirty="0"/>
              <a:t> </a:t>
            </a:r>
            <a:r>
              <a:rPr lang="en-US" dirty="0" err="1"/>
              <a:t>مقابل</a:t>
            </a:r>
            <a:r>
              <a:rPr lang="en-US" dirty="0"/>
              <a:t> </a:t>
            </a:r>
            <a:r>
              <a:rPr lang="en-US" dirty="0" err="1"/>
              <a:t>الخطة</a:t>
            </a:r>
            <a:r>
              <a:rPr lang="en-US" dirty="0"/>
              <a:t>: ٧٤ </a:t>
            </a:r>
            <a:r>
              <a:rPr lang="en-US" dirty="0" err="1"/>
              <a:t>ساعة</a:t>
            </a:r>
            <a:endParaRPr lang="en-US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استوديو</a:t>
            </a:r>
            <a:r>
              <a:rPr lang="en-US" dirty="0"/>
              <a:t> </a:t>
            </a:r>
            <a:r>
              <a:rPr lang="en-US" dirty="0" err="1"/>
              <a:t>نايل</a:t>
            </a:r>
            <a:r>
              <a:rPr lang="en-US" dirty="0"/>
              <a:t> </a:t>
            </a:r>
            <a:r>
              <a:rPr lang="en-US" dirty="0" err="1"/>
              <a:t>فريم</a:t>
            </a:r>
            <a:r>
              <a:rPr lang="en-US" dirty="0"/>
              <a:t> — Nile Frame Studio — Shot 4 locked</a:t>
            </a:r>
          </a:p>
          <a:p>
            <a:pPr marL="342900" indent="-342900" algn="l" rtl="1">
              <a:buFont typeface="Arial" panose="020B0604020202020204" pitchFamily="34" charset="0"/>
              <a:buChar char="•"/>
            </a:pPr>
            <a:r>
              <a:rPr lang="en-US" dirty="0"/>
              <a:t>Next review: Thursday 12:00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99183-B416-A8CE-8EBA-E733F9F7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6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6F67-57FC-5F2E-AF60-B4BE284A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2800" dirty="0" err="1"/>
              <a:t>جدول</a:t>
            </a:r>
            <a:r>
              <a:rPr lang="en-US" sz="2800" dirty="0"/>
              <a:t> </a:t>
            </a:r>
            <a:r>
              <a:rPr lang="en-US" sz="2800" dirty="0" err="1"/>
              <a:t>المتابعة</a:t>
            </a: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CB772F-CAC7-1060-2C10-F62F6552A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97624"/>
              </p:ext>
            </p:extLst>
          </p:nvPr>
        </p:nvGraphicFramePr>
        <p:xfrm>
          <a:off x="2032000" y="2687320"/>
          <a:ext cx="8127999" cy="2560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831818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90976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8985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الاسم</a:t>
                      </a:r>
                      <a:endParaRPr lang="en-US" sz="32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الدور</a:t>
                      </a:r>
                      <a:endParaRPr lang="en-US" sz="32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الحالة</a:t>
                      </a:r>
                      <a:endParaRPr lang="en-US" sz="32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643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ليلى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حسن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مونتيرة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تم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5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أحمد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سمير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مصور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قيد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التنفيذ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283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Shot 12 —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لقطة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١٢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VFX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متعثرة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69707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74D666-9247-54AC-A4BF-EFFE7CB1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9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5E426FE-7144-4678-DA6D-7041EC433FAC}"/>
              </a:ext>
            </a:extLst>
          </p:cNvPr>
          <p:cNvGrpSpPr/>
          <p:nvPr/>
        </p:nvGrpSpPr>
        <p:grpSpPr>
          <a:xfrm>
            <a:off x="4070021" y="1035031"/>
            <a:ext cx="1162310" cy="251640"/>
            <a:chOff x="4070021" y="1035031"/>
            <a:chExt cx="1162310" cy="2516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9E34207-D93E-7BC5-D4A3-398E63A1EB50}"/>
                </a:ext>
              </a:extLst>
            </p:cNvPr>
            <p:cNvSpPr/>
            <p:nvPr/>
          </p:nvSpPr>
          <p:spPr>
            <a:xfrm>
              <a:off x="4070021" y="1035031"/>
              <a:ext cx="539640" cy="251640"/>
            </a:xfrm>
            <a:prstGeom prst="rect">
              <a:avLst/>
            </a:prstGeom>
            <a:solidFill>
              <a:srgbClr val="73A0B4"/>
            </a:solidFill>
            <a:ln w="28800">
              <a:solidFill>
                <a:srgbClr val="156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4400" tIns="59400" rIns="104400" bIns="59400" anchor="t">
              <a:spAutoFit/>
            </a:bodyPr>
            <a:lstStyle/>
            <a:p>
              <a:endParaRPr lang="en-AE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51A8F1E-37CA-B207-3D01-DABCD6684785}"/>
                </a:ext>
              </a:extLst>
            </p:cNvPr>
            <p:cNvSpPr/>
            <p:nvPr/>
          </p:nvSpPr>
          <p:spPr>
            <a:xfrm>
              <a:off x="4692691" y="1035031"/>
              <a:ext cx="539640" cy="251640"/>
            </a:xfrm>
            <a:prstGeom prst="roundRect">
              <a:avLst>
                <a:gd name="adj" fmla="val 16667"/>
              </a:avLst>
            </a:prstGeom>
            <a:solidFill>
              <a:srgbClr val="73A0B4"/>
            </a:solidFill>
            <a:ln w="28800">
              <a:solidFill>
                <a:srgbClr val="156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4400" tIns="59400" rIns="104400" bIns="59400" anchor="t">
              <a:spAutoFit/>
            </a:bodyPr>
            <a:lstStyle/>
            <a:p>
              <a:endParaRPr lang="en-AE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2F9DE2E8-27CF-9DA6-4DC8-9BFC689F77A6}"/>
              </a:ext>
            </a:extLst>
          </p:cNvPr>
          <p:cNvSpPr/>
          <p:nvPr/>
        </p:nvSpPr>
        <p:spPr>
          <a:xfrm>
            <a:off x="5315361" y="1035031"/>
            <a:ext cx="539640" cy="251640"/>
          </a:xfrm>
          <a:prstGeom prst="ellipse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6A5BC03A-C13E-B797-E362-EC4B9CEF3DA0}"/>
              </a:ext>
            </a:extLst>
          </p:cNvPr>
          <p:cNvSpPr/>
          <p:nvPr/>
        </p:nvSpPr>
        <p:spPr>
          <a:xfrm>
            <a:off x="5938031" y="1035031"/>
            <a:ext cx="539640" cy="251640"/>
          </a:xfrm>
          <a:prstGeom prst="triangle">
            <a:avLst>
              <a:gd name="adj" fmla="val 50000"/>
            </a:avLst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9882D69A-0BC9-81FB-E417-056389EA9FCB}"/>
              </a:ext>
            </a:extLst>
          </p:cNvPr>
          <p:cNvSpPr/>
          <p:nvPr/>
        </p:nvSpPr>
        <p:spPr>
          <a:xfrm>
            <a:off x="6668701" y="1035031"/>
            <a:ext cx="539640" cy="251640"/>
          </a:xfrm>
          <a:prstGeom prst="rtTriangle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41760" rIns="104400" bIns="4176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F3A6D770-DAD6-4DF1-F032-00D841AB9F9B}"/>
              </a:ext>
            </a:extLst>
          </p:cNvPr>
          <p:cNvSpPr/>
          <p:nvPr/>
        </p:nvSpPr>
        <p:spPr>
          <a:xfrm>
            <a:off x="7399731" y="1035031"/>
            <a:ext cx="539640" cy="251640"/>
          </a:xfrm>
          <a:prstGeom prst="diamond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6D28B997-567D-5FA9-D4FA-D973695EAAB2}"/>
              </a:ext>
            </a:extLst>
          </p:cNvPr>
          <p:cNvSpPr/>
          <p:nvPr/>
        </p:nvSpPr>
        <p:spPr>
          <a:xfrm>
            <a:off x="3291494" y="1873139"/>
            <a:ext cx="539640" cy="251640"/>
          </a:xfrm>
          <a:prstGeom prst="parallelogram">
            <a:avLst>
              <a:gd name="adj" fmla="val 25000"/>
            </a:avLst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972A27-EB12-1FEB-2B62-4FFA004B2478}"/>
              </a:ext>
            </a:extLst>
          </p:cNvPr>
          <p:cNvGrpSpPr/>
          <p:nvPr/>
        </p:nvGrpSpPr>
        <p:grpSpPr>
          <a:xfrm rot="1200000">
            <a:off x="4077823" y="2043714"/>
            <a:ext cx="1627133" cy="352296"/>
            <a:chOff x="4692619" y="1892333"/>
            <a:chExt cx="1162238" cy="251640"/>
          </a:xfrm>
        </p:grpSpPr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CAEDFE7B-C4E8-B9B2-F26B-8DEA7C398BEB}"/>
                </a:ext>
              </a:extLst>
            </p:cNvPr>
            <p:cNvSpPr/>
            <p:nvPr/>
          </p:nvSpPr>
          <p:spPr>
            <a:xfrm>
              <a:off x="4692619" y="1892333"/>
              <a:ext cx="539640" cy="2516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73A0B4"/>
            </a:solidFill>
            <a:ln w="28800">
              <a:solidFill>
                <a:srgbClr val="156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4400" tIns="59400" rIns="104400" bIns="59400" anchor="t">
              <a:spAutoFit/>
            </a:bodyPr>
            <a:lstStyle/>
            <a:p>
              <a:endParaRPr lang="en-AE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Octagon 44">
              <a:extLst>
                <a:ext uri="{FF2B5EF4-FFF2-40B4-BE49-F238E27FC236}">
                  <a16:creationId xmlns:a16="http://schemas.microsoft.com/office/drawing/2014/main" id="{E14F0597-B67D-3152-0FE3-0229FF10BF72}"/>
                </a:ext>
              </a:extLst>
            </p:cNvPr>
            <p:cNvSpPr/>
            <p:nvPr/>
          </p:nvSpPr>
          <p:spPr>
            <a:xfrm>
              <a:off x="5315217" y="1892333"/>
              <a:ext cx="539640" cy="251640"/>
            </a:xfrm>
            <a:prstGeom prst="octagon">
              <a:avLst>
                <a:gd name="adj" fmla="val 29289"/>
              </a:avLst>
            </a:prstGeom>
            <a:solidFill>
              <a:srgbClr val="73A0B4"/>
            </a:solidFill>
            <a:ln w="28800">
              <a:solidFill>
                <a:srgbClr val="156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4400" tIns="59400" rIns="104400" bIns="59400" anchor="t">
              <a:spAutoFit/>
            </a:bodyPr>
            <a:lstStyle/>
            <a:p>
              <a:endParaRPr lang="en-AE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54BEB196-D22D-2AAF-EE2D-30472265A929}"/>
              </a:ext>
            </a:extLst>
          </p:cNvPr>
          <p:cNvSpPr/>
          <p:nvPr/>
        </p:nvSpPr>
        <p:spPr>
          <a:xfrm rot="19800000">
            <a:off x="5937815" y="1873835"/>
            <a:ext cx="647640" cy="251640"/>
          </a:xfrm>
          <a:prstGeom prst="rect">
            <a:avLst/>
          </a:prstGeom>
          <a:solidFill>
            <a:srgbClr val="44809B"/>
          </a:solidFill>
          <a:ln w="432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1600" tIns="66600" rIns="111600" bIns="66600" anchor="ctr" anchorCtr="1">
            <a:no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1E27CC0D-78F8-7A70-07FC-678B736F8656}"/>
              </a:ext>
            </a:extLst>
          </p:cNvPr>
          <p:cNvSpPr/>
          <p:nvPr/>
        </p:nvSpPr>
        <p:spPr>
          <a:xfrm>
            <a:off x="6668413" y="1928333"/>
            <a:ext cx="648000" cy="360"/>
          </a:xfrm>
          <a:prstGeom prst="line">
            <a:avLst/>
          </a:prstGeom>
          <a:ln w="36000">
            <a:solidFill>
              <a:srgbClr val="E8A3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-63000" rIns="108000" bIns="-63000" anchor="ctr" anchorCtr="1">
            <a:noAutofit/>
          </a:bodyPr>
          <a:lstStyle/>
          <a:p>
            <a:endParaRPr lang="en-A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18CFFD5A-0B6C-2A49-51F1-F20F48147FA1}"/>
              </a:ext>
            </a:extLst>
          </p:cNvPr>
          <p:cNvSpPr/>
          <p:nvPr/>
        </p:nvSpPr>
        <p:spPr>
          <a:xfrm>
            <a:off x="7399371" y="1872779"/>
            <a:ext cx="540000" cy="252000"/>
          </a:xfrm>
          <a:prstGeom prst="star5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80750A1-99A8-343C-91C2-97F8EA0F3BF8}"/>
              </a:ext>
            </a:extLst>
          </p:cNvPr>
          <p:cNvGrpSpPr/>
          <p:nvPr/>
        </p:nvGrpSpPr>
        <p:grpSpPr>
          <a:xfrm>
            <a:off x="2024173" y="3769629"/>
            <a:ext cx="833760" cy="1455840"/>
            <a:chOff x="2024173" y="3769629"/>
            <a:chExt cx="833760" cy="14558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B4E62A-3B1A-2144-47B7-D109498E609D}"/>
                    </a:ext>
                  </a:extLst>
                </p14:cNvPr>
                <p14:cNvContentPartPr/>
                <p14:nvPr/>
              </p14:nvContentPartPr>
              <p14:xfrm>
                <a:off x="2024173" y="3801669"/>
                <a:ext cx="302040" cy="1353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B4E62A-3B1A-2144-47B7-D109498E609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88173" y="3766029"/>
                  <a:ext cx="373680" cy="14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2D48AA-F67B-175F-3340-4A820EA336D9}"/>
                    </a:ext>
                  </a:extLst>
                </p14:cNvPr>
                <p14:cNvContentPartPr/>
                <p14:nvPr/>
              </p14:nvContentPartPr>
              <p14:xfrm>
                <a:off x="2342053" y="3769629"/>
                <a:ext cx="515880" cy="1455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2D48AA-F67B-175F-3340-4A820EA336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06053" y="3733989"/>
                  <a:ext cx="587520" cy="15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1477C9E-CDFA-30D8-374A-CF19B2734219}"/>
                    </a:ext>
                  </a:extLst>
                </p14:cNvPr>
                <p14:cNvContentPartPr/>
                <p14:nvPr/>
              </p14:nvContentPartPr>
              <p14:xfrm>
                <a:off x="2144413" y="4732269"/>
                <a:ext cx="39024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1477C9E-CDFA-30D8-374A-CF19B27342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8773" y="4696269"/>
                  <a:ext cx="46188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34FF7ED-B48F-5209-1635-D9EDC3A82D87}"/>
              </a:ext>
            </a:extLst>
          </p:cNvPr>
          <p:cNvGrpSpPr/>
          <p:nvPr/>
        </p:nvGrpSpPr>
        <p:grpSpPr>
          <a:xfrm>
            <a:off x="3352573" y="3702309"/>
            <a:ext cx="1014120" cy="1497600"/>
            <a:chOff x="3352573" y="3702309"/>
            <a:chExt cx="1014120" cy="149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62F4324-4F39-565B-30F8-3F0F7EB4C4B2}"/>
                    </a:ext>
                  </a:extLst>
                </p14:cNvPr>
                <p14:cNvContentPartPr/>
                <p14:nvPr/>
              </p14:nvContentPartPr>
              <p14:xfrm>
                <a:off x="3352573" y="3753789"/>
                <a:ext cx="224280" cy="1336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62F4324-4F39-565B-30F8-3F0F7EB4C4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6933" y="3717789"/>
                  <a:ext cx="295920" cy="14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0BD8EC5-C6AA-329B-C1DC-3CF965A6A09F}"/>
                    </a:ext>
                  </a:extLst>
                </p14:cNvPr>
                <p14:cNvContentPartPr/>
                <p14:nvPr/>
              </p14:nvContentPartPr>
              <p14:xfrm>
                <a:off x="3352573" y="3702309"/>
                <a:ext cx="1014120" cy="1497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0BD8EC5-C6AA-329B-C1DC-3CF965A6A0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16573" y="3666309"/>
                  <a:ext cx="1085760" cy="156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9CFA644-1C75-E07E-B4B1-380525399B84}"/>
                  </a:ext>
                </a:extLst>
              </p14:cNvPr>
              <p14:cNvContentPartPr/>
              <p14:nvPr/>
            </p14:nvContentPartPr>
            <p14:xfrm>
              <a:off x="4831093" y="3625269"/>
              <a:ext cx="968400" cy="13824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9CFA644-1C75-E07E-B4B1-380525399B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13093" y="3607629"/>
                <a:ext cx="1004040" cy="141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410482EE-2770-7154-4CF1-33D8EA9629F8}"/>
              </a:ext>
            </a:extLst>
          </p:cNvPr>
          <p:cNvGrpSpPr/>
          <p:nvPr/>
        </p:nvGrpSpPr>
        <p:grpSpPr>
          <a:xfrm>
            <a:off x="6464773" y="3577389"/>
            <a:ext cx="498600" cy="1227240"/>
            <a:chOff x="6464773" y="3577389"/>
            <a:chExt cx="498600" cy="12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644150-C929-63F2-16A0-B4A10FF1E086}"/>
                    </a:ext>
                  </a:extLst>
                </p14:cNvPr>
                <p14:cNvContentPartPr/>
                <p14:nvPr/>
              </p14:nvContentPartPr>
              <p14:xfrm>
                <a:off x="6528853" y="3657309"/>
                <a:ext cx="142200" cy="1147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644150-C929-63F2-16A0-B4A10FF1E0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11213" y="3639669"/>
                  <a:ext cx="177840" cy="11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823A13B-FC43-855A-9872-0869DF88D7A7}"/>
                    </a:ext>
                  </a:extLst>
                </p14:cNvPr>
                <p14:cNvContentPartPr/>
                <p14:nvPr/>
              </p14:nvContentPartPr>
              <p14:xfrm>
                <a:off x="6464773" y="3577389"/>
                <a:ext cx="498600" cy="1199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823A13B-FC43-855A-9872-0869DF88D7A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47133" y="3559389"/>
                  <a:ext cx="534240" cy="1235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4" name="Arrow: Up 63">
            <a:extLst>
              <a:ext uri="{FF2B5EF4-FFF2-40B4-BE49-F238E27FC236}">
                <a16:creationId xmlns:a16="http://schemas.microsoft.com/office/drawing/2014/main" id="{3D3A1F1A-FC71-A06F-2C50-30EA3F03DD15}"/>
              </a:ext>
            </a:extLst>
          </p:cNvPr>
          <p:cNvSpPr/>
          <p:nvPr/>
        </p:nvSpPr>
        <p:spPr>
          <a:xfrm>
            <a:off x="8518358" y="932408"/>
            <a:ext cx="539640" cy="4568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Not Equal 64">
            <a:extLst>
              <a:ext uri="{FF2B5EF4-FFF2-40B4-BE49-F238E27FC236}">
                <a16:creationId xmlns:a16="http://schemas.microsoft.com/office/drawing/2014/main" id="{FAFB458C-8583-9A64-EB52-500B259E58C8}"/>
              </a:ext>
            </a:extLst>
          </p:cNvPr>
          <p:cNvSpPr/>
          <p:nvPr/>
        </p:nvSpPr>
        <p:spPr>
          <a:xfrm>
            <a:off x="8330978" y="1667579"/>
            <a:ext cx="914400" cy="914400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21AEA19B-C724-010F-8A94-48DA002D6B6E}"/>
              </a:ext>
            </a:extLst>
          </p:cNvPr>
          <p:cNvSpPr/>
          <p:nvPr/>
        </p:nvSpPr>
        <p:spPr>
          <a:xfrm>
            <a:off x="9480884" y="932408"/>
            <a:ext cx="539640" cy="164957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E63F1E7E-3D87-7F55-026D-A71B3AD897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11497" y="3577389"/>
            <a:ext cx="2049120" cy="2714332"/>
          </a:xfrm>
          <a:prstGeom prst="rect">
            <a:avLst/>
          </a:pr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F926551-7890-9B0D-6461-F029FB0E0D08}"/>
              </a:ext>
            </a:extLst>
          </p:cNvPr>
          <p:cNvSpPr/>
          <p:nvPr/>
        </p:nvSpPr>
        <p:spPr>
          <a:xfrm>
            <a:off x="338008" y="1035031"/>
            <a:ext cx="1122948" cy="994920"/>
          </a:xfrm>
          <a:custGeom>
            <a:avLst/>
            <a:gdLst>
              <a:gd name="csX0" fmla="*/ 0 w 1122948"/>
              <a:gd name="csY0" fmla="*/ 144689 h 994920"/>
              <a:gd name="csX1" fmla="*/ 80211 w 1122948"/>
              <a:gd name="csY1" fmla="*/ 112604 h 994920"/>
              <a:gd name="csX2" fmla="*/ 641685 w 1122948"/>
              <a:gd name="csY2" fmla="*/ 310 h 994920"/>
              <a:gd name="csX3" fmla="*/ 1058779 w 1122948"/>
              <a:gd name="csY3" fmla="*/ 48436 h 994920"/>
              <a:gd name="csX4" fmla="*/ 1122948 w 1122948"/>
              <a:gd name="csY4" fmla="*/ 160731 h 994920"/>
              <a:gd name="csX5" fmla="*/ 1106906 w 1122948"/>
              <a:gd name="csY5" fmla="*/ 273026 h 994920"/>
              <a:gd name="csX6" fmla="*/ 1090864 w 1122948"/>
              <a:gd name="csY6" fmla="*/ 321152 h 994920"/>
              <a:gd name="csX7" fmla="*/ 994611 w 1122948"/>
              <a:gd name="csY7" fmla="*/ 369278 h 994920"/>
              <a:gd name="csX8" fmla="*/ 834190 w 1122948"/>
              <a:gd name="csY8" fmla="*/ 401362 h 994920"/>
              <a:gd name="csX9" fmla="*/ 737937 w 1122948"/>
              <a:gd name="csY9" fmla="*/ 433447 h 994920"/>
              <a:gd name="csX10" fmla="*/ 465221 w 1122948"/>
              <a:gd name="csY10" fmla="*/ 465531 h 994920"/>
              <a:gd name="csX11" fmla="*/ 401053 w 1122948"/>
              <a:gd name="csY11" fmla="*/ 593868 h 994920"/>
              <a:gd name="csX12" fmla="*/ 368969 w 1122948"/>
              <a:gd name="csY12" fmla="*/ 738247 h 994920"/>
              <a:gd name="csX13" fmla="*/ 529390 w 1122948"/>
              <a:gd name="csY13" fmla="*/ 946794 h 994920"/>
              <a:gd name="csX14" fmla="*/ 721895 w 1122948"/>
              <a:gd name="csY14" fmla="*/ 994920 h 994920"/>
              <a:gd name="csX15" fmla="*/ 834190 w 1122948"/>
              <a:gd name="csY15" fmla="*/ 818457 h 994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22948" h="994920">
                <a:moveTo>
                  <a:pt x="0" y="144689"/>
                </a:moveTo>
                <a:cubicBezTo>
                  <a:pt x="26737" y="133994"/>
                  <a:pt x="52522" y="120515"/>
                  <a:pt x="80211" y="112604"/>
                </a:cubicBezTo>
                <a:cubicBezTo>
                  <a:pt x="337068" y="39216"/>
                  <a:pt x="365944" y="43848"/>
                  <a:pt x="641685" y="310"/>
                </a:cubicBezTo>
                <a:cubicBezTo>
                  <a:pt x="678566" y="2154"/>
                  <a:pt x="961293" y="-12492"/>
                  <a:pt x="1058779" y="48436"/>
                </a:cubicBezTo>
                <a:cubicBezTo>
                  <a:pt x="1075272" y="58744"/>
                  <a:pt x="1118035" y="150905"/>
                  <a:pt x="1122948" y="160731"/>
                </a:cubicBezTo>
                <a:cubicBezTo>
                  <a:pt x="1117601" y="198163"/>
                  <a:pt x="1114321" y="235949"/>
                  <a:pt x="1106906" y="273026"/>
                </a:cubicBezTo>
                <a:cubicBezTo>
                  <a:pt x="1103590" y="289607"/>
                  <a:pt x="1103703" y="310147"/>
                  <a:pt x="1090864" y="321152"/>
                </a:cubicBezTo>
                <a:cubicBezTo>
                  <a:pt x="1063628" y="344497"/>
                  <a:pt x="1027917" y="355956"/>
                  <a:pt x="994611" y="369278"/>
                </a:cubicBezTo>
                <a:cubicBezTo>
                  <a:pt x="960425" y="382952"/>
                  <a:pt x="861405" y="396826"/>
                  <a:pt x="834190" y="401362"/>
                </a:cubicBezTo>
                <a:cubicBezTo>
                  <a:pt x="802106" y="412057"/>
                  <a:pt x="771257" y="427652"/>
                  <a:pt x="737937" y="433447"/>
                </a:cubicBezTo>
                <a:cubicBezTo>
                  <a:pt x="647758" y="449130"/>
                  <a:pt x="547862" y="426178"/>
                  <a:pt x="465221" y="465531"/>
                </a:cubicBezTo>
                <a:cubicBezTo>
                  <a:pt x="422039" y="486094"/>
                  <a:pt x="401053" y="593868"/>
                  <a:pt x="401053" y="593868"/>
                </a:cubicBezTo>
                <a:cubicBezTo>
                  <a:pt x="390358" y="641994"/>
                  <a:pt x="372481" y="689072"/>
                  <a:pt x="368969" y="738247"/>
                </a:cubicBezTo>
                <a:cubicBezTo>
                  <a:pt x="361887" y="837400"/>
                  <a:pt x="449064" y="904718"/>
                  <a:pt x="529390" y="946794"/>
                </a:cubicBezTo>
                <a:cubicBezTo>
                  <a:pt x="587982" y="977485"/>
                  <a:pt x="657727" y="978878"/>
                  <a:pt x="721895" y="994920"/>
                </a:cubicBezTo>
                <a:cubicBezTo>
                  <a:pt x="860298" y="896061"/>
                  <a:pt x="834190" y="960710"/>
                  <a:pt x="834190" y="8184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5413A5-0B33-70BF-A91A-237D5DB8A696}"/>
              </a:ext>
            </a:extLst>
          </p:cNvPr>
          <p:cNvSpPr txBox="1"/>
          <p:nvPr/>
        </p:nvSpPr>
        <p:spPr>
          <a:xfrm>
            <a:off x="4738023" y="129425"/>
            <a:ext cx="2400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3200" b="1" dirty="0">
                <a:ln w="9525">
                  <a:solidFill>
                    <a:sysClr val="windowText" lastClr="000000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أشكال ورسومات</a:t>
            </a:r>
            <a:endParaRPr lang="en-US" sz="3200" b="1" dirty="0">
              <a:ln w="9525">
                <a:solidFill>
                  <a:sysClr val="windowText" lastClr="000000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ADCFC8-5462-7C44-AFDA-C889F254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3</a:t>
            </a:fld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C1694990-1B8D-E70B-F36D-2EA320536783}"/>
              </a:ext>
            </a:extLst>
          </p:cNvPr>
          <p:cNvSpPr/>
          <p:nvPr/>
        </p:nvSpPr>
        <p:spPr>
          <a:xfrm>
            <a:off x="2534653" y="714200"/>
            <a:ext cx="477374" cy="1949444"/>
          </a:xfrm>
          <a:prstGeom prst="leftBrace">
            <a:avLst/>
          </a:prstGeom>
          <a:solidFill>
            <a:schemeClr val="tx1"/>
          </a:solidFill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90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CF752C-52A8-C40F-411F-99ED0657AC4A}"/>
              </a:ext>
            </a:extLst>
          </p:cNvPr>
          <p:cNvSpPr/>
          <p:nvPr/>
        </p:nvSpPr>
        <p:spPr>
          <a:xfrm>
            <a:off x="6096000" y="2185263"/>
            <a:ext cx="2340000" cy="1368000"/>
          </a:xfrm>
          <a:prstGeom prst="rect">
            <a:avLst/>
          </a:prstGeom>
          <a:gradFill rotWithShape="0">
            <a:gsLst>
              <a:gs pos="0">
                <a:srgbClr val="156082"/>
              </a:gs>
              <a:gs pos="100000">
                <a:srgbClr val="E8A33D"/>
              </a:gs>
            </a:gsLst>
            <a:lin ang="2700000"/>
          </a:gradFill>
          <a:ln w="0">
            <a:solidFill>
              <a:srgbClr val="3465A4"/>
            </a:solidFill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A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1739F9-9F0F-B4BA-E316-98FD5437C634}"/>
              </a:ext>
            </a:extLst>
          </p:cNvPr>
          <p:cNvSpPr/>
          <p:nvPr/>
        </p:nvSpPr>
        <p:spPr>
          <a:xfrm>
            <a:off x="3288000" y="2185263"/>
            <a:ext cx="2340000" cy="1368000"/>
          </a:xfrm>
          <a:prstGeom prst="ellipse">
            <a:avLst/>
          </a:prstGeom>
          <a:gradFill rotWithShape="0">
            <a:gsLst>
              <a:gs pos="0">
                <a:srgbClr val="156082"/>
              </a:gs>
              <a:gs pos="100000">
                <a:srgbClr val="73A0B4"/>
              </a:gs>
            </a:gsLst>
            <a:path path="circle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A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897BB-C371-6420-600F-32664565F108}"/>
              </a:ext>
            </a:extLst>
          </p:cNvPr>
          <p:cNvSpPr txBox="1"/>
          <p:nvPr/>
        </p:nvSpPr>
        <p:spPr>
          <a:xfrm>
            <a:off x="5227012" y="320842"/>
            <a:ext cx="1737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800" dirty="0"/>
              <a:t>تدرجات لونية</a:t>
            </a: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1498E3-726D-B2AE-0EA1-3507BF95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A1E9A7-BC3E-2B47-A21E-FF52AC0DD828}"/>
              </a:ext>
            </a:extLst>
          </p:cNvPr>
          <p:cNvSpPr/>
          <p:nvPr/>
        </p:nvSpPr>
        <p:spPr>
          <a:xfrm>
            <a:off x="3288000" y="4049989"/>
            <a:ext cx="2566737" cy="2197768"/>
          </a:xfrm>
          <a:prstGeom prst="rect">
            <a:avLst/>
          </a:prstGeom>
          <a:gradFill flip="none" rotWithShape="1">
            <a:gsLst>
              <a:gs pos="0">
                <a:srgbClr val="156082"/>
              </a:gs>
              <a:gs pos="20000">
                <a:schemeClr val="accent1">
                  <a:lumMod val="45000"/>
                  <a:lumOff val="55000"/>
                </a:schemeClr>
              </a:gs>
              <a:gs pos="100000">
                <a:srgbClr val="E8A33D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626371AE-FBEA-79D2-0FB6-7C22BD0B0242}"/>
              </a:ext>
            </a:extLst>
          </p:cNvPr>
          <p:cNvSpPr/>
          <p:nvPr/>
        </p:nvSpPr>
        <p:spPr>
          <a:xfrm>
            <a:off x="6564002" y="3941396"/>
            <a:ext cx="3118339" cy="2414954"/>
          </a:xfrm>
          <a:prstGeom prst="star5">
            <a:avLst/>
          </a:prstGeom>
          <a:gradFill flip="none" rotWithShape="1">
            <a:gsLst>
              <a:gs pos="0">
                <a:srgbClr val="156082"/>
              </a:gs>
              <a:gs pos="100000">
                <a:srgbClr val="E8A33D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3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4B38-3494-D082-700B-037197CA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dirty="0" err="1"/>
              <a:t>تنسيق</a:t>
            </a:r>
            <a:r>
              <a:rPr lang="en-US" dirty="0"/>
              <a:t> </a:t>
            </a:r>
            <a:r>
              <a:rPr lang="en-US" dirty="0" err="1"/>
              <a:t>التعداد</a:t>
            </a:r>
            <a:r>
              <a:rPr lang="en-US" dirty="0"/>
              <a:t> </a:t>
            </a:r>
            <a:r>
              <a:rPr lang="en-US" dirty="0" err="1"/>
              <a:t>النقطي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99ABB-134E-4F34-C4A9-46A1A90FA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448"/>
            <a:ext cx="3998976" cy="5032375"/>
          </a:xfrm>
        </p:spPr>
        <p:txBody>
          <a:bodyPr/>
          <a:lstStyle/>
          <a:p>
            <a:r>
              <a:rPr lang="en-US" dirty="0" err="1"/>
              <a:t>نقطة</a:t>
            </a:r>
            <a:r>
              <a:rPr lang="en-US" dirty="0"/>
              <a:t> </a:t>
            </a:r>
            <a:r>
              <a:rPr lang="en-US" dirty="0" err="1"/>
              <a:t>افتراضية</a:t>
            </a:r>
            <a:endParaRPr lang="en-US" dirty="0"/>
          </a:p>
          <a:p>
            <a:pPr>
              <a:buClr>
                <a:srgbClr val="FF0000"/>
              </a:buClr>
              <a:buSzPct val="150000"/>
            </a:pPr>
            <a:r>
              <a:rPr lang="en-US" dirty="0" err="1"/>
              <a:t>نقطة</a:t>
            </a:r>
            <a:r>
              <a:rPr lang="en-US" dirty="0"/>
              <a:t> </a:t>
            </a:r>
            <a:r>
              <a:rPr lang="en-US" dirty="0" err="1"/>
              <a:t>حمراء</a:t>
            </a:r>
            <a:r>
              <a:rPr lang="en-US" dirty="0"/>
              <a:t> </a:t>
            </a:r>
            <a:r>
              <a:rPr lang="en-US" dirty="0" err="1"/>
              <a:t>كبيرة</a:t>
            </a:r>
            <a:endParaRPr lang="en-US" dirty="0"/>
          </a:p>
          <a:p>
            <a:pPr>
              <a:buClr>
                <a:srgbClr val="FF0000"/>
              </a:buClr>
              <a:buSzPct val="150000"/>
              <a:buFont typeface="Wingdings" panose="05000000000000000000" pitchFamily="2" charset="2"/>
              <a:buChar char="q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نقطة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بخط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مختلف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 err="1"/>
              <a:t>نقطة</a:t>
            </a:r>
            <a:r>
              <a:rPr lang="en-US" dirty="0"/>
              <a:t> </a:t>
            </a:r>
            <a:r>
              <a:rPr lang="en-US" dirty="0" err="1"/>
              <a:t>بخط</a:t>
            </a:r>
            <a:r>
              <a:rPr lang="en-US" dirty="0"/>
              <a:t> </a:t>
            </a:r>
            <a:r>
              <a:rPr lang="en-US" dirty="0" err="1"/>
              <a:t>مختلف</a:t>
            </a:r>
            <a:endParaRPr lang="en-US" dirty="0"/>
          </a:p>
          <a:p>
            <a:pPr>
              <a:buClr>
                <a:schemeClr val="tx1"/>
              </a:buClr>
              <a:buSzPct val="150000"/>
              <a:buFont typeface="Wingdings" panose="05000000000000000000" pitchFamily="2" charset="2"/>
              <a:buChar char="ü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Clr>
                <a:schemeClr val="tx1"/>
              </a:buClr>
              <a:buSzPct val="150000"/>
              <a:buFont typeface="+mj-lt"/>
              <a:buAutoNum type="arabicPeriod"/>
            </a:pPr>
            <a:r>
              <a:rPr lang="en-US" sz="1800" dirty="0" err="1"/>
              <a:t>بند</a:t>
            </a:r>
            <a:r>
              <a:rPr lang="en-US" sz="1800" dirty="0"/>
              <a:t> </a:t>
            </a:r>
            <a:r>
              <a:rPr lang="en-US" sz="1800" dirty="0" err="1"/>
              <a:t>أول</a:t>
            </a:r>
            <a:endParaRPr lang="en-US" sz="1800" dirty="0"/>
          </a:p>
          <a:p>
            <a:pPr marL="514350" indent="-514350">
              <a:buClr>
                <a:schemeClr val="tx1"/>
              </a:buClr>
              <a:buSzPct val="150000"/>
              <a:buFont typeface="+mj-lt"/>
              <a:buAutoNum type="arabicPeriod"/>
            </a:pPr>
            <a:r>
              <a:rPr lang="en-US" sz="1800" dirty="0" err="1"/>
              <a:t>بند</a:t>
            </a:r>
            <a:r>
              <a:rPr lang="en-US" sz="1800" dirty="0"/>
              <a:t> </a:t>
            </a:r>
            <a:r>
              <a:rPr lang="en-US" sz="1800" dirty="0" err="1"/>
              <a:t>ثاني</a:t>
            </a:r>
            <a:endParaRPr lang="en-US" sz="1800" dirty="0"/>
          </a:p>
          <a:p>
            <a:pPr marL="514350" indent="-514350">
              <a:buClr>
                <a:schemeClr val="tx1"/>
              </a:buClr>
              <a:buSzPct val="150000"/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tx1"/>
              </a:buClr>
              <a:buSzPct val="100000"/>
              <a:buFont typeface="+mj-lt"/>
              <a:buAutoNum type="alphaLcParenR"/>
            </a:pPr>
            <a:r>
              <a:rPr lang="en-US" sz="2000" dirty="0" err="1"/>
              <a:t>بند</a:t>
            </a:r>
            <a:r>
              <a:rPr lang="en-US" sz="2000" dirty="0"/>
              <a:t> أ</a:t>
            </a:r>
          </a:p>
          <a:p>
            <a:pPr marL="342900" indent="-342900">
              <a:buClr>
                <a:schemeClr val="tx1"/>
              </a:buClr>
              <a:buSzPct val="100000"/>
              <a:buFont typeface="+mj-lt"/>
              <a:buAutoNum type="alphaLcParenR"/>
            </a:pPr>
            <a:r>
              <a:rPr lang="en-US" sz="2000" dirty="0" err="1"/>
              <a:t>بند</a:t>
            </a:r>
            <a:r>
              <a:rPr lang="en-US" sz="2000" dirty="0"/>
              <a:t> ب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49C9C-794A-83A5-5C86-3F5CC58C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3292-8167-76AE-2523-D320EDBCF5CE}"/>
              </a:ext>
            </a:extLst>
          </p:cNvPr>
          <p:cNvSpPr txBox="1"/>
          <p:nvPr/>
        </p:nvSpPr>
        <p:spPr>
          <a:xfrm>
            <a:off x="6702552" y="1690688"/>
            <a:ext cx="5084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dirty="0" err="1"/>
              <a:t>بند</a:t>
            </a:r>
            <a:r>
              <a:rPr lang="en-US" dirty="0"/>
              <a:t> I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 err="1"/>
              <a:t>بند</a:t>
            </a:r>
            <a:r>
              <a:rPr lang="en-US" dirty="0"/>
              <a:t> ii</a:t>
            </a:r>
          </a:p>
          <a:p>
            <a:pPr marL="400050" indent="-400050">
              <a:buFont typeface="+mj-lt"/>
              <a:buAutoNum type="romanLcPeriod"/>
            </a:pPr>
            <a:endParaRPr lang="en-US" dirty="0"/>
          </a:p>
          <a:p>
            <a:pPr marL="285750" indent="-285750"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dirty="0" err="1"/>
              <a:t>نقطة</a:t>
            </a:r>
            <a:r>
              <a:rPr lang="en-US" dirty="0"/>
              <a:t> </a:t>
            </a:r>
            <a:r>
              <a:rPr lang="en-US" dirty="0" err="1"/>
              <a:t>مصورة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1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8FDF2-7EC7-CC95-B3EE-9C1F612F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B838D-35CF-4BF5-F2AE-23EE6548C9DA}"/>
              </a:ext>
            </a:extLst>
          </p:cNvPr>
          <p:cNvSpPr txBox="1"/>
          <p:nvPr/>
        </p:nvSpPr>
        <p:spPr>
          <a:xfrm>
            <a:off x="4864608" y="731520"/>
            <a:ext cx="1468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gradFill flip="none" rotWithShape="1">
                  <a:gsLst>
                    <a:gs pos="0">
                      <a:schemeClr val="tx1">
                        <a:tint val="66000"/>
                        <a:satMod val="160000"/>
                      </a:schemeClr>
                    </a:gs>
                    <a:gs pos="50000">
                      <a:schemeClr val="tx1">
                        <a:tint val="44500"/>
                        <a:satMod val="160000"/>
                      </a:schemeClr>
                    </a:gs>
                    <a:gs pos="100000">
                      <a:schemeClr val="tx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rPr>
              <a:t>نص</a:t>
            </a:r>
            <a:r>
              <a:rPr lang="en-US" sz="2800" b="1" dirty="0">
                <a:gradFill flip="none" rotWithShape="1">
                  <a:gsLst>
                    <a:gs pos="0">
                      <a:schemeClr val="tx1">
                        <a:tint val="66000"/>
                        <a:satMod val="160000"/>
                      </a:schemeClr>
                    </a:gs>
                    <a:gs pos="50000">
                      <a:schemeClr val="tx1">
                        <a:tint val="44500"/>
                        <a:satMod val="160000"/>
                      </a:schemeClr>
                    </a:gs>
                    <a:gs pos="100000">
                      <a:schemeClr val="tx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rPr>
              <a:t> </a:t>
            </a:r>
            <a:r>
              <a:rPr lang="en-US" sz="2800" b="1" dirty="0" err="1">
                <a:gradFill flip="none" rotWithShape="1">
                  <a:gsLst>
                    <a:gs pos="0">
                      <a:schemeClr val="tx1">
                        <a:tint val="66000"/>
                        <a:satMod val="160000"/>
                      </a:schemeClr>
                    </a:gs>
                    <a:gs pos="50000">
                      <a:schemeClr val="tx1">
                        <a:tint val="44500"/>
                        <a:satMod val="160000"/>
                      </a:schemeClr>
                    </a:gs>
                    <a:gs pos="100000">
                      <a:schemeClr val="tx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rPr>
              <a:t>متدرج</a:t>
            </a:r>
            <a:endParaRPr lang="en-US" sz="2800" b="1" dirty="0"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8F59A-13DF-7598-2914-7F0A4CF4B808}"/>
              </a:ext>
            </a:extLst>
          </p:cNvPr>
          <p:cNvSpPr txBox="1"/>
          <p:nvPr/>
        </p:nvSpPr>
        <p:spPr>
          <a:xfrm>
            <a:off x="4864608" y="1792224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نص</a:t>
            </a:r>
            <a:r>
              <a:rPr lang="en-US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800" dirty="0" err="1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متوهج</a:t>
            </a:r>
            <a:endParaRPr lang="en-US" sz="2800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BB244-C48E-02A9-F82E-8FE4AD57EB61}"/>
              </a:ext>
            </a:extLst>
          </p:cNvPr>
          <p:cNvSpPr txBox="1"/>
          <p:nvPr/>
        </p:nvSpPr>
        <p:spPr>
          <a:xfrm>
            <a:off x="4858280" y="2852928"/>
            <a:ext cx="1426994" cy="523220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sz="2800" dirty="0" err="1"/>
              <a:t>نص</a:t>
            </a:r>
            <a:r>
              <a:rPr lang="en-US" sz="2800" dirty="0"/>
              <a:t> </a:t>
            </a:r>
            <a:r>
              <a:rPr lang="en-US" sz="2800" dirty="0" err="1"/>
              <a:t>مقوس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D2827-ADE2-6341-2663-3AE0AF73D89A}"/>
              </a:ext>
            </a:extLst>
          </p:cNvPr>
          <p:cNvSpPr txBox="1"/>
          <p:nvPr/>
        </p:nvSpPr>
        <p:spPr>
          <a:xfrm>
            <a:off x="4430278" y="3834671"/>
            <a:ext cx="2282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n>
                  <a:solidFill>
                    <a:schemeClr val="tx1"/>
                  </a:solidFill>
                </a:ln>
                <a:noFill/>
              </a:rPr>
              <a:t>نص</a:t>
            </a:r>
            <a:r>
              <a:rPr lang="en-US" sz="4000" dirty="0">
                <a:ln>
                  <a:solidFill>
                    <a:schemeClr val="tx1"/>
                  </a:solidFill>
                </a:ln>
                <a:noFill/>
              </a:rPr>
              <a:t> </a:t>
            </a:r>
            <a:r>
              <a:rPr lang="en-US" sz="4000" dirty="0" err="1">
                <a:ln>
                  <a:solidFill>
                    <a:schemeClr val="tx1"/>
                  </a:solidFill>
                </a:ln>
                <a:noFill/>
              </a:rPr>
              <a:t>بلا</a:t>
            </a:r>
            <a:r>
              <a:rPr lang="en-US" sz="4000" dirty="0">
                <a:ln>
                  <a:solidFill>
                    <a:schemeClr val="tx1"/>
                  </a:solidFill>
                </a:ln>
                <a:noFill/>
              </a:rPr>
              <a:t> </a:t>
            </a:r>
            <a:r>
              <a:rPr lang="en-US" sz="4000" dirty="0" err="1">
                <a:ln>
                  <a:solidFill>
                    <a:schemeClr val="tx1"/>
                  </a:solidFill>
                </a:ln>
                <a:noFill/>
              </a:rPr>
              <a:t>تعبئة</a:t>
            </a:r>
            <a:endParaRPr lang="en-US" sz="4000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9" name="TextBox 8">
            <a:hlinkClick r:id="rId2"/>
            <a:extLst>
              <a:ext uri="{FF2B5EF4-FFF2-40B4-BE49-F238E27FC236}">
                <a16:creationId xmlns:a16="http://schemas.microsoft.com/office/drawing/2014/main" id="{877925D8-C03E-085A-776B-608D6DBBE262}"/>
              </a:ext>
            </a:extLst>
          </p:cNvPr>
          <p:cNvSpPr txBox="1"/>
          <p:nvPr/>
        </p:nvSpPr>
        <p:spPr>
          <a:xfrm>
            <a:off x="4643477" y="5138928"/>
            <a:ext cx="1856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 err="1">
                <a:solidFill>
                  <a:srgbClr val="0000FF"/>
                </a:solidFill>
              </a:rPr>
              <a:t>رابط</a:t>
            </a:r>
            <a:r>
              <a:rPr lang="en-US" sz="3200" u="sng" dirty="0">
                <a:solidFill>
                  <a:srgbClr val="0000FF"/>
                </a:solidFill>
              </a:rPr>
              <a:t> </a:t>
            </a:r>
            <a:r>
              <a:rPr lang="en-US" sz="3200" u="sng" dirty="0" err="1">
                <a:solidFill>
                  <a:srgbClr val="0000FF"/>
                </a:solidFill>
              </a:rPr>
              <a:t>تجريبي</a:t>
            </a:r>
            <a:endParaRPr lang="en-US" sz="3200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08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C54A0-2C2A-2295-699B-4312C574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7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36737DA-7BD7-DFE8-AC9F-826CB17FF43F}"/>
              </a:ext>
            </a:extLst>
          </p:cNvPr>
          <p:cNvSpPr txBox="1"/>
          <p:nvPr/>
        </p:nvSpPr>
        <p:spPr>
          <a:xfrm>
            <a:off x="0" y="3048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2800"/>
              <a:t>تعبئة الأشكال</a:t>
            </a:r>
            <a:endParaRPr lang="en-US" sz="2800"/>
          </a:p>
        </p:txBody>
      </p:sp>
      <p:sp>
        <p:nvSpPr>
          <p:cNvPr id="6" name="Pattern DkDnDiag">
            <a:extLst>
              <a:ext uri="{FF2B5EF4-FFF2-40B4-BE49-F238E27FC236}">
                <a16:creationId xmlns:a16="http://schemas.microsoft.com/office/drawing/2014/main" id="{15483228-F1E7-72FD-8D19-78488A42FF6E}"/>
              </a:ext>
            </a:extLst>
          </p:cNvPr>
          <p:cNvSpPr/>
          <p:nvPr/>
        </p:nvSpPr>
        <p:spPr>
          <a:xfrm>
            <a:off x="1397000" y="1397000"/>
            <a:ext cx="2794000" cy="1524000"/>
          </a:xfrm>
          <a:prstGeom prst="rect">
            <a:avLst/>
          </a:prstGeom>
          <a:pattFill prst="dkDnDiag">
            <a:fgClr>
              <a:srgbClr val="156082"/>
            </a:fgClr>
            <a:bgClr>
              <a:srgbClr val="FFFFFF"/>
            </a:bgClr>
          </a:pattFill>
          <a:ln>
            <a:solidFill>
              <a:srgbClr val="3465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2FAF7-7905-4983-9E2C-6041B4809B66}"/>
              </a:ext>
            </a:extLst>
          </p:cNvPr>
          <p:cNvSpPr txBox="1"/>
          <p:nvPr/>
        </p:nvSpPr>
        <p:spPr>
          <a:xfrm>
            <a:off x="1397000" y="2997200"/>
            <a:ext cx="279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1400"/>
              <a:t>نقش قطري</a:t>
            </a:r>
            <a:endParaRPr lang="en-US" sz="1400"/>
          </a:p>
        </p:txBody>
      </p:sp>
      <p:sp>
        <p:nvSpPr>
          <p:cNvPr id="8" name="Pattern SmGrid">
            <a:extLst>
              <a:ext uri="{FF2B5EF4-FFF2-40B4-BE49-F238E27FC236}">
                <a16:creationId xmlns:a16="http://schemas.microsoft.com/office/drawing/2014/main" id="{F845FC1C-649D-B50B-5F2C-648705F24B07}"/>
              </a:ext>
            </a:extLst>
          </p:cNvPr>
          <p:cNvSpPr/>
          <p:nvPr/>
        </p:nvSpPr>
        <p:spPr>
          <a:xfrm>
            <a:off x="4699000" y="1397000"/>
            <a:ext cx="2794000" cy="1524000"/>
          </a:xfrm>
          <a:prstGeom prst="ellipse">
            <a:avLst/>
          </a:prstGeom>
          <a:pattFill prst="smGrid">
            <a:fgClr>
              <a:srgbClr val="E8A33D"/>
            </a:fgClr>
            <a:bgClr>
              <a:srgbClr val="FFF4E0"/>
            </a:bgClr>
          </a:pattFill>
          <a:ln>
            <a:solidFill>
              <a:srgbClr val="3465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18660-239A-461F-5882-126F15872D8B}"/>
              </a:ext>
            </a:extLst>
          </p:cNvPr>
          <p:cNvSpPr txBox="1"/>
          <p:nvPr/>
        </p:nvSpPr>
        <p:spPr>
          <a:xfrm>
            <a:off x="4699000" y="2997200"/>
            <a:ext cx="279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1400"/>
              <a:t>نقش شبكي</a:t>
            </a:r>
            <a:endParaRPr lang="en-US" sz="1400"/>
          </a:p>
        </p:txBody>
      </p:sp>
      <p:sp>
        <p:nvSpPr>
          <p:cNvPr id="10" name="Picture Stretch">
            <a:extLst>
              <a:ext uri="{FF2B5EF4-FFF2-40B4-BE49-F238E27FC236}">
                <a16:creationId xmlns:a16="http://schemas.microsoft.com/office/drawing/2014/main" id="{D4324C07-044C-B35C-9893-D449D18F2C43}"/>
              </a:ext>
            </a:extLst>
          </p:cNvPr>
          <p:cNvSpPr/>
          <p:nvPr/>
        </p:nvSpPr>
        <p:spPr>
          <a:xfrm>
            <a:off x="8001000" y="1397000"/>
            <a:ext cx="2794000" cy="1524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solidFill>
              <a:srgbClr val="3465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B074A-7629-38FF-085F-2B5CC7222809}"/>
              </a:ext>
            </a:extLst>
          </p:cNvPr>
          <p:cNvSpPr txBox="1"/>
          <p:nvPr/>
        </p:nvSpPr>
        <p:spPr>
          <a:xfrm>
            <a:off x="8001000" y="2997200"/>
            <a:ext cx="279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1400"/>
              <a:t>صورة ممتدة</a:t>
            </a:r>
            <a:endParaRPr lang="en-US" sz="1400"/>
          </a:p>
        </p:txBody>
      </p:sp>
      <p:sp>
        <p:nvSpPr>
          <p:cNvPr id="12" name="Picture Tile">
            <a:extLst>
              <a:ext uri="{FF2B5EF4-FFF2-40B4-BE49-F238E27FC236}">
                <a16:creationId xmlns:a16="http://schemas.microsoft.com/office/drawing/2014/main" id="{8D6DB55D-F0A6-C8F9-4607-509E7E911266}"/>
              </a:ext>
            </a:extLst>
          </p:cNvPr>
          <p:cNvSpPr/>
          <p:nvPr/>
        </p:nvSpPr>
        <p:spPr>
          <a:xfrm>
            <a:off x="1397000" y="3810000"/>
            <a:ext cx="2794000" cy="1524000"/>
          </a:xfrm>
          <a:prstGeom prst="rect">
            <a:avLst/>
          </a:prstGeom>
          <a:blipFill dpi="0" rotWithShape="1">
            <a:blip r:embed="rId3"/>
            <a:srcRect/>
            <a:tile tx="0" ty="0" sx="25000" sy="25000" flip="none" algn="tl"/>
          </a:blipFill>
          <a:ln>
            <a:solidFill>
              <a:srgbClr val="3465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1923A-CBB8-BA4E-E263-990F94D98BED}"/>
              </a:ext>
            </a:extLst>
          </p:cNvPr>
          <p:cNvSpPr txBox="1"/>
          <p:nvPr/>
        </p:nvSpPr>
        <p:spPr>
          <a:xfrm>
            <a:off x="1397000" y="5410200"/>
            <a:ext cx="279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1400"/>
              <a:t>صورة مبلطة</a:t>
            </a:r>
            <a:endParaRPr lang="en-US" sz="1400"/>
          </a:p>
        </p:txBody>
      </p:sp>
      <p:sp>
        <p:nvSpPr>
          <p:cNvPr id="14" name="Gradient Rect Corner">
            <a:extLst>
              <a:ext uri="{FF2B5EF4-FFF2-40B4-BE49-F238E27FC236}">
                <a16:creationId xmlns:a16="http://schemas.microsoft.com/office/drawing/2014/main" id="{E88EB776-5AC8-F69A-B98E-2146BCB66E90}"/>
              </a:ext>
            </a:extLst>
          </p:cNvPr>
          <p:cNvSpPr/>
          <p:nvPr/>
        </p:nvSpPr>
        <p:spPr>
          <a:xfrm>
            <a:off x="4699000" y="3810000"/>
            <a:ext cx="2794000" cy="1524000"/>
          </a:xfrm>
          <a:prstGeom prst="rect">
            <a:avLst/>
          </a:prstGeom>
          <a:gradFill flip="none" rotWithShape="1">
            <a:gsLst>
              <a:gs pos="0">
                <a:srgbClr val="156082"/>
              </a:gs>
              <a:gs pos="100000">
                <a:srgbClr val="E8A33D"/>
              </a:gs>
            </a:gsLst>
            <a:path path="rect">
              <a:fillToRect r="100000" b="100000"/>
            </a:path>
            <a:tileRect l="-100000" t="-100000"/>
          </a:gradFill>
          <a:ln>
            <a:solidFill>
              <a:srgbClr val="3465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CB98CA-908A-D857-EFF8-692A27825DD4}"/>
              </a:ext>
            </a:extLst>
          </p:cNvPr>
          <p:cNvSpPr txBox="1"/>
          <p:nvPr/>
        </p:nvSpPr>
        <p:spPr>
          <a:xfrm>
            <a:off x="4699000" y="5410200"/>
            <a:ext cx="279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1400"/>
              <a:t>تدرج من الزاوية</a:t>
            </a:r>
            <a:endParaRPr lang="en-US" sz="1400"/>
          </a:p>
        </p:txBody>
      </p:sp>
      <p:sp>
        <p:nvSpPr>
          <p:cNvPr id="16" name="Gradient Rect Center">
            <a:extLst>
              <a:ext uri="{FF2B5EF4-FFF2-40B4-BE49-F238E27FC236}">
                <a16:creationId xmlns:a16="http://schemas.microsoft.com/office/drawing/2014/main" id="{F1372FEB-D20E-6452-C530-64ADC223BFB7}"/>
              </a:ext>
            </a:extLst>
          </p:cNvPr>
          <p:cNvSpPr/>
          <p:nvPr/>
        </p:nvSpPr>
        <p:spPr>
          <a:xfrm>
            <a:off x="8001000" y="3810000"/>
            <a:ext cx="2794000" cy="1524000"/>
          </a:xfrm>
          <a:prstGeom prst="rect">
            <a:avLst/>
          </a:prstGeom>
          <a:gradFill flip="none" rotWithShape="1">
            <a:gsLst>
              <a:gs pos="0">
                <a:srgbClr val="156082"/>
              </a:gs>
              <a:gs pos="100000">
                <a:srgbClr val="E8A33D"/>
              </a:gs>
            </a:gsLst>
            <a:path path="rect">
              <a:fillToRect l="50000" t="50000" r="50000" b="50000"/>
            </a:path>
            <a:tileRect/>
          </a:gradFill>
          <a:ln>
            <a:solidFill>
              <a:srgbClr val="3465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4D21E9-6FB5-EF14-4D97-EC92894422AA}"/>
              </a:ext>
            </a:extLst>
          </p:cNvPr>
          <p:cNvSpPr txBox="1"/>
          <p:nvPr/>
        </p:nvSpPr>
        <p:spPr>
          <a:xfrm>
            <a:off x="8001000" y="5410200"/>
            <a:ext cx="279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1400"/>
              <a:t>تدرج مستطيل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91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rgbClr val="D6E4F0"/>
          </a:fgClr>
          <a:bgClr>
            <a:srgbClr val="FFFFF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CFB03-1D64-2EF8-7704-9F878047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8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C564994-362B-1270-D7D7-3019B6E7D7C7}"/>
              </a:ext>
            </a:extLst>
          </p:cNvPr>
          <p:cNvSpPr txBox="1"/>
          <p:nvPr/>
        </p:nvSpPr>
        <p:spPr>
          <a:xfrm>
            <a:off x="0" y="3048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2800"/>
              <a:t>خلفية بنقش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11479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30000" sy="3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6C618-0D31-43E2-259C-DBFFA3BE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9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BEF187B-6343-0390-2380-0609F74A8429}"/>
              </a:ext>
            </a:extLst>
          </p:cNvPr>
          <p:cNvSpPr txBox="1"/>
          <p:nvPr/>
        </p:nvSpPr>
        <p:spPr>
          <a:xfrm>
            <a:off x="0" y="3048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2800"/>
              <a:t>خلفية مبلطة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68150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73C67-6A8A-5856-CE07-81FF7A12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10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4958500-4107-66AD-9E57-FD96394F86E1}"/>
              </a:ext>
            </a:extLst>
          </p:cNvPr>
          <p:cNvSpPr txBox="1"/>
          <p:nvPr/>
        </p:nvSpPr>
        <p:spPr>
          <a:xfrm>
            <a:off x="0" y="3048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2800"/>
              <a:t>جدول بتعبئة</a:t>
            </a:r>
            <a:endParaRPr lang="en-US" sz="2800"/>
          </a:p>
        </p:txBody>
      </p:sp>
      <p:graphicFrame>
        <p:nvGraphicFramePr>
          <p:cNvPr id="6" name="Filled Table">
            <a:extLst>
              <a:ext uri="{FF2B5EF4-FFF2-40B4-BE49-F238E27FC236}">
                <a16:creationId xmlns:a16="http://schemas.microsoft.com/office/drawing/2014/main" id="{6AFD34C4-CAD5-F634-C43D-4D9867A57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24516"/>
              </p:ext>
            </p:extLst>
          </p:nvPr>
        </p:nvGraphicFramePr>
        <p:xfrm>
          <a:off x="2286000" y="1524000"/>
          <a:ext cx="7620000" cy="2286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52927733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4813228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10578536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البند</a:t>
                      </a:r>
                      <a:endParaRPr lang="en-US"/>
                    </a:p>
                  </a:txBody>
                  <a:tcPr>
                    <a:gradFill flip="none" rotWithShape="1">
                      <a:gsLst>
                        <a:gs pos="0">
                          <a:srgbClr val="156082"/>
                        </a:gs>
                        <a:gs pos="100000">
                          <a:srgbClr val="73A0B4"/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الحالة</a:t>
                      </a:r>
                      <a:endParaRPr lang="en-US"/>
                    </a:p>
                  </a:txBody>
                  <a:tcPr>
                    <a:gradFill flip="none" rotWithShape="1">
                      <a:gsLst>
                        <a:gs pos="0">
                          <a:srgbClr val="156082"/>
                        </a:gs>
                        <a:gs pos="100000">
                          <a:srgbClr val="73A0B4"/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الملاحظات</a:t>
                      </a:r>
                      <a:endParaRPr lang="en-US"/>
                    </a:p>
                  </a:txBody>
                  <a:tcPr>
                    <a:gradFill flip="none" rotWithShape="1">
                      <a:gsLst>
                        <a:gs pos="0">
                          <a:srgbClr val="156082"/>
                        </a:gs>
                        <a:gs pos="100000">
                          <a:srgbClr val="73A0B4"/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8478058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تصميم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مكتمل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نقش</a:t>
                      </a:r>
                      <a:endParaRPr lang="en-US"/>
                    </a:p>
                  </a:txBody>
                  <a:tcPr>
                    <a:pattFill prst="smGrid">
                      <a:fgClr>
                        <a:srgbClr val="E8A33D"/>
                      </a:fgClr>
                      <a:bgClr>
                        <a:srgbClr val="FFF4E0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756117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تنفيذ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جارٍ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/>
                        <a:t>تدرج</a:t>
                      </a:r>
                      <a:endParaRPr lang="en-US"/>
                    </a:p>
                  </a:txBody>
                  <a:tcPr>
                    <a:gradFill flip="none" rotWithShape="1">
                      <a:gsLst>
                        <a:gs pos="0">
                          <a:srgbClr val="FFFFFF"/>
                        </a:gs>
                        <a:gs pos="100000">
                          <a:srgbClr val="E8A33D"/>
                        </a:gs>
                      </a:gsLst>
                      <a:path path="rect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6011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041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73C67-6A8A-5856-CE07-81FF7A12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11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4958500-4107-66AD-9E57-FD96394F86E1}"/>
              </a:ext>
            </a:extLst>
          </p:cNvPr>
          <p:cNvSpPr txBox="1"/>
          <p:nvPr/>
        </p:nvSpPr>
        <p:spPr>
          <a:xfrm>
            <a:off x="0" y="3048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2800"/>
              <a:t>خطوط وموصلات</a:t>
            </a:r>
            <a:endParaRPr lang="en-US" sz="2800"/>
          </a:p>
        </p:txBody>
      </p:sp>
      <p:cxnSp>
        <p:nvCxnSpPr>
          <p:cNvPr id="2" name="Timeline">
            <a:extLst>
              <a:ext uri="{FF2B5EF4-FFF2-40B4-BE49-F238E27FC236}">
                <a16:creationId xmlns:a16="http://schemas.microsoft.com/office/drawing/2014/main" id="{80F9A06E-CA69-73C9-E91F-A3BB40E102E1}"/>
              </a:ext>
            </a:extLst>
          </p:cNvPr>
          <p:cNvCxnSpPr/>
          <p:nvPr/>
        </p:nvCxnSpPr>
        <p:spPr>
          <a:xfrm>
            <a:off x="1016000" y="3048000"/>
            <a:ext cx="10160000" cy="0"/>
          </a:xfrm>
          <a:prstGeom prst="straightConnector1">
            <a:avLst/>
          </a:prstGeom>
          <a:ln w="25400">
            <a:solidFill>
              <a:srgbClr val="1E3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Today">
            <a:extLst>
              <a:ext uri="{FF2B5EF4-FFF2-40B4-BE49-F238E27FC236}">
                <a16:creationId xmlns:a16="http://schemas.microsoft.com/office/drawing/2014/main" id="{38BE034F-34A4-5316-2EA3-7211F6C949CB}"/>
              </a:ext>
            </a:extLst>
          </p:cNvPr>
          <p:cNvCxnSpPr/>
          <p:nvPr/>
        </p:nvCxnSpPr>
        <p:spPr>
          <a:xfrm>
            <a:off x="6096000" y="1524000"/>
            <a:ext cx="0" cy="3556000"/>
          </a:xfrm>
          <a:prstGeom prst="line">
            <a:avLst/>
          </a:prstGeom>
          <a:ln w="19050">
            <a:solidFill>
              <a:srgbClr val="F59B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otted">
            <a:extLst>
              <a:ext uri="{FF2B5EF4-FFF2-40B4-BE49-F238E27FC236}">
                <a16:creationId xmlns:a16="http://schemas.microsoft.com/office/drawing/2014/main" id="{412D5034-8347-C745-3BF3-8C6C630C8B7C}"/>
              </a:ext>
            </a:extLst>
          </p:cNvPr>
          <p:cNvCxnSpPr/>
          <p:nvPr/>
        </p:nvCxnSpPr>
        <p:spPr>
          <a:xfrm>
            <a:off x="1016000" y="4064000"/>
            <a:ext cx="10160000" cy="0"/>
          </a:xfrm>
          <a:prstGeom prst="line">
            <a:avLst/>
          </a:prstGeom>
          <a:ln w="12700" cap="rnd">
            <a:solidFill>
              <a:srgbClr val="808F9C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iagonal">
            <a:extLst>
              <a:ext uri="{FF2B5EF4-FFF2-40B4-BE49-F238E27FC236}">
                <a16:creationId xmlns:a16="http://schemas.microsoft.com/office/drawing/2014/main" id="{8B7729AA-FB6D-E4A4-46F6-92C2F5137AA6}"/>
              </a:ext>
            </a:extLst>
          </p:cNvPr>
          <p:cNvCxnSpPr/>
          <p:nvPr/>
        </p:nvCxnSpPr>
        <p:spPr>
          <a:xfrm flipV="1">
            <a:off x="1016000" y="4826000"/>
            <a:ext cx="2540000" cy="1016000"/>
          </a:xfrm>
          <a:prstGeom prst="line">
            <a:avLst/>
          </a:prstGeom>
          <a:ln w="38100">
            <a:solidFill>
              <a:srgbClr val="1E3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ixed direction">
            <a:extLst>
              <a:ext uri="{FF2B5EF4-FFF2-40B4-BE49-F238E27FC236}">
                <a16:creationId xmlns:a16="http://schemas.microsoft.com/office/drawing/2014/main" id="{4F49EAE7-3274-8F51-B7EE-B613C7B2FE13}"/>
              </a:ext>
            </a:extLst>
          </p:cNvPr>
          <p:cNvSpPr txBox="1"/>
          <p:nvPr/>
        </p:nvSpPr>
        <p:spPr>
          <a:xfrm>
            <a:off x="1016000" y="5969000"/>
            <a:ext cx="10160000" cy="4490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 rtl="1">
              <a:lnSpc>
                <a:spcPts val="3000"/>
              </a:lnSpc>
            </a:pPr>
            <a:r>
              <a:rPr lang="ar-SA" sz="2000"/>
              <a:t>الإيرادات دون الموازنة بنسبة </a:t>
            </a:r>
            <a:r>
              <a:rPr lang="en-US" sz="2000">
                <a:latin typeface="Calibri" panose="020F0502020204030204" pitchFamily="34" charset="0"/>
              </a:rPr>
              <a:t>2.1%</a:t>
            </a:r>
            <a:endParaRPr lang="en-US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241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73C67-6A8A-5856-CE07-81FF7A12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12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4958500-4107-66AD-9E57-FD96394F86E1}"/>
              </a:ext>
            </a:extLst>
          </p:cNvPr>
          <p:cNvSpPr txBox="1"/>
          <p:nvPr/>
        </p:nvSpPr>
        <p:spPr>
          <a:xfrm>
            <a:off x="0" y="3048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2800"/>
              <a:t>تباعد الفقرات</a:t>
            </a:r>
            <a:endParaRPr lang="en-US" sz="2800"/>
          </a:p>
        </p:txBody>
      </p:sp>
      <p:sp>
        <p:nvSpPr>
          <p:cNvPr id="9" name="Spacing in lines">
            <a:extLst>
              <a:ext uri="{FF2B5EF4-FFF2-40B4-BE49-F238E27FC236}">
                <a16:creationId xmlns:a16="http://schemas.microsoft.com/office/drawing/2014/main" id="{32992895-2F7F-841E-A74A-8486F4DE5FDE}"/>
              </a:ext>
            </a:extLst>
          </p:cNvPr>
          <p:cNvSpPr txBox="1"/>
          <p:nvPr/>
        </p:nvSpPr>
        <p:spPr>
          <a:xfrm>
            <a:off x="5080000" y="1524000"/>
            <a:ext cx="6096000" cy="4826000"/>
          </a:xfrm>
          <a:prstGeom prst="rect">
            <a:avLst/>
          </a:prstGeom>
          <a:noFill/>
        </p:spPr>
        <p:txBody>
          <a:bodyPr vert="horz" rtlCol="0" anchor="t">
            <a:noAutofit/>
          </a:bodyPr>
          <a:lstStyle/>
          <a:p>
            <a:pPr algn="r" rtl="1">
              <a:spcBef>
                <a:spcPct val="100000"/>
              </a:spcBef>
              <a:spcAft>
                <a:spcPct val="0"/>
              </a:spcAft>
            </a:pPr>
            <a:r>
              <a:rPr lang="ar-EG"/>
              <a:t>الفقرة الأولى: سطر قبلها لا يظهر</a:t>
            </a:r>
          </a:p>
          <a:p>
            <a:pPr algn="r" rtl="1">
              <a:spcBef>
                <a:spcPct val="50000"/>
              </a:spcBef>
              <a:spcAft>
                <a:spcPct val="0"/>
              </a:spcAft>
            </a:pPr>
            <a:r>
              <a:rPr lang="ar-EG"/>
              <a:t>نصف سطر قبل هذه الفقرة</a:t>
            </a:r>
          </a:p>
          <a:p>
            <a:pPr algn="r" rtl="1">
              <a:spcBef>
                <a:spcPct val="100000"/>
              </a:spcBef>
              <a:spcAft>
                <a:spcPct val="0"/>
              </a:spcAft>
            </a:pPr>
            <a:r>
              <a:rPr lang="ar-EG"/>
              <a:t>سطر قبلها بحجم الكلمة </a:t>
            </a:r>
            <a:r>
              <a:rPr lang="ar-EG" sz="2800"/>
              <a:t>الأكبر</a:t>
            </a:r>
          </a:p>
          <a:p>
            <a:pPr algn="r" rtl="1">
              <a:spcBef>
                <a:spcPct val="0"/>
              </a:spcBef>
              <a:spcAft>
                <a:spcPct val="100000"/>
              </a:spcAft>
            </a:pPr>
            <a:r>
              <a:rPr lang="ar-EG"/>
              <a:t>سطر كامل بعد هذه الفقرة</a:t>
            </a:r>
          </a:p>
          <a:p>
            <a:pPr algn="r" rtl="1">
              <a:spcBef>
                <a:spcPct val="100000"/>
              </a:spcBef>
              <a:spcAft>
                <a:spcPct val="0"/>
              </a:spcAft>
            </a:pPr>
            <a:r>
              <a:rPr lang="ar-EG"/>
              <a:t>وسطر قبل هذه فيجتمعان</a:t>
            </a:r>
          </a:p>
          <a:p>
            <a:pPr algn="r" rtl="1">
              <a:spcBef>
                <a:spcPct val="0"/>
              </a:spcBef>
              <a:spcAft>
                <a:spcPct val="100000"/>
              </a:spcAft>
            </a:pPr>
            <a:r>
              <a:rPr lang="ar-EG"/>
              <a:t>الفقرة الأخيرة: سطر بعدها لا يظهر</a:t>
            </a:r>
            <a:endParaRPr lang="en-US"/>
          </a:p>
        </p:txBody>
      </p:sp>
      <p:graphicFrame>
        <p:nvGraphicFramePr>
          <p:cNvPr id="10" name="Spacing in a cell">
            <a:extLst>
              <a:ext uri="{FF2B5EF4-FFF2-40B4-BE49-F238E27FC236}">
                <a16:creationId xmlns:a16="http://schemas.microsoft.com/office/drawing/2014/main" id="{824B5542-66C9-A9FA-1B03-15EB6CD40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124176"/>
              </p:ext>
            </p:extLst>
          </p:nvPr>
        </p:nvGraphicFramePr>
        <p:xfrm>
          <a:off x="762000" y="1524000"/>
          <a:ext cx="4318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14434486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</a:pPr>
                      <a:r>
                        <a:rPr lang="ar-EG" sz="1800"/>
                        <a:t>في الخلية: سطر قبل الأولى لا يظهر</a:t>
                      </a:r>
                    </a:p>
                    <a:p>
                      <a:pPr algn="r" rt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</a:pPr>
                      <a:r>
                        <a:rPr lang="ar-EG" sz="1800"/>
                        <a:t>نصف سطر بعد هذه</a:t>
                      </a:r>
                    </a:p>
                    <a:p>
                      <a:pPr algn="r" rtl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</a:pPr>
                      <a:r>
                        <a:rPr lang="ar-EG" sz="1800"/>
                        <a:t>ونصف سطر قبل هذه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137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32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73C67-6A8A-5856-CE07-81FF7A12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13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4958500-4107-66AD-9E57-FD96394F86E1}"/>
              </a:ext>
            </a:extLst>
          </p:cNvPr>
          <p:cNvSpPr txBox="1"/>
          <p:nvPr/>
        </p:nvSpPr>
        <p:spPr>
          <a:xfrm>
            <a:off x="0" y="3048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 rtl="1"/>
            <a:r>
              <a:rPr lang="ar-EG" sz="2800"/>
              <a:t>خلايا مدمجة</a:t>
            </a:r>
            <a:endParaRPr lang="en-US" sz="2800"/>
          </a:p>
        </p:txBody>
      </p:sp>
      <p:graphicFrame>
        <p:nvGraphicFramePr>
          <p:cNvPr id="2" name="Merged cells">
            <a:extLst>
              <a:ext uri="{FF2B5EF4-FFF2-40B4-BE49-F238E27FC236}">
                <a16:creationId xmlns:a16="http://schemas.microsoft.com/office/drawing/2014/main" id="{AE1598A0-8E6D-5F0B-76FF-1530671F5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017258"/>
              </p:ext>
            </p:extLst>
          </p:nvPr>
        </p:nvGraphicFramePr>
        <p:xfrm>
          <a:off x="762000" y="1651000"/>
          <a:ext cx="1066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60474289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72258952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2984581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177147476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r>
                        <a:rPr lang="ar-EG"/>
                        <a:t>العنوان المدمج</a:t>
                      </a: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/>
                        <a:t>الحالة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/>
                        <a:t>المبلغ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3436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ar-EG"/>
                        <a:t>التصوير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٣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ar-EG"/>
                        <a:t>جارٍ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٤٠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39668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ar-EG"/>
                        <a:t>المونتاج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٢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٣٠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5232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ar-EG"/>
                        <a:t>الصوت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/>
                        <a:t>تم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٢٠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08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84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1481-920F-16EE-8F2C-E3D3E438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/>
              <a:t>الشلال: الميزانية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40049-449A-0FE1-2FA9-5518F226F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F8DE4-C774-EA08-E8C7-F6F1E63C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Waterfall">
                <a:extLst>
                  <a:ext uri="{FF2B5EF4-FFF2-40B4-BE49-F238E27FC236}">
                    <a16:creationId xmlns:a16="http://schemas.microsoft.com/office/drawing/2014/main" id="{4D78685F-76BC-638B-33C2-757D774A6E7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6830524"/>
                  </p:ext>
                </p:extLst>
              </p:nvPr>
            </p:nvGraphicFramePr>
            <p:xfrm>
              <a:off x="1016000" y="1651000"/>
              <a:ext cx="10160000" cy="431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Waterfall">
                <a:extLst>
                  <a:ext uri="{FF2B5EF4-FFF2-40B4-BE49-F238E27FC236}">
                    <a16:creationId xmlns:a16="http://schemas.microsoft.com/office/drawing/2014/main" id="{4D78685F-76BC-638B-33C2-757D774A6E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6000" y="1651000"/>
                <a:ext cx="10160000" cy="43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9411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72041BC-3873-0E2D-B108-BBFB268B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/>
              <a:t>شريحة على التخطيط أ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8BB6BF-0F43-B3BB-9726-9E24AF4A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DF4F-F028-4B81-B3D4-6037FCFC1593}" type="slidenum">
              <a:rPr lang="en-US" smtClean="0"/>
              <a:t>15</a:t>
            </a:fld>
            <a:endParaRPr lang="en-US"/>
          </a:p>
        </p:txBody>
      </p:sp>
      <p:sp>
        <p:nvSpPr>
          <p:cNvPr id="4" name="Accent box">
            <a:extLst>
              <a:ext uri="{FF2B5EF4-FFF2-40B4-BE49-F238E27FC236}">
                <a16:creationId xmlns:a16="http://schemas.microsoft.com/office/drawing/2014/main" id="{8BC34ECF-89BB-4E09-C605-80FA1413755F}"/>
              </a:ext>
            </a:extLst>
          </p:cNvPr>
          <p:cNvSpPr/>
          <p:nvPr/>
        </p:nvSpPr>
        <p:spPr>
          <a:xfrm>
            <a:off x="762000" y="3302000"/>
            <a:ext cx="3048000" cy="762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/>
              <a:t>لون التمييز الأول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22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7C35447-3B69-8290-4B68-032CFFAF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/>
              <a:t>شريحة ثانية على التخطيط أ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FE604-8505-A095-2591-71101260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DF4F-F028-4B81-B3D4-6037FCFC15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32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D9FEE69-9AF8-6C4A-C179-E6427D9F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/>
              <a:t>شريحة على التخطيط ب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23B5E-A794-A434-59B8-0DD5E355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DF4F-F028-4B81-B3D4-6037FCFC15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19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F35A0F-1EFA-9FEF-8C2A-A2D60A0C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/>
              <a:t>شريحة تخفي الرسومات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FEFA19-FBBF-5EC2-7ED6-E3323385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DF4F-F028-4B81-B3D4-6037FCFC15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11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econd 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E6B3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242</Words>
  <Application>Microsoft Office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Wingdings</vt:lpstr>
      <vt:lpstr>Office Theme</vt:lpstr>
      <vt:lpstr>Second master</vt:lpstr>
      <vt:lpstr>تقرير الإنتاج الأسبوعي</vt:lpstr>
      <vt:lpstr>جدول المتابعة</vt:lpstr>
      <vt:lpstr>PowerPoint Presentation</vt:lpstr>
      <vt:lpstr>PowerPoint Presentation</vt:lpstr>
      <vt:lpstr>تنسيق التعداد النقطي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الشلال: الميزانية</vt:lpstr>
      <vt:lpstr>شريحة على التخطيط أ</vt:lpstr>
      <vt:lpstr>شريحة ثانية على التخطيط أ</vt:lpstr>
      <vt:lpstr>شريحة على التخطيط ب</vt:lpstr>
      <vt:lpstr>شريحة تخفي الرسومات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Abdalhameed Samy</dc:creator>
  <cp:lastModifiedBy>Abdalhameed Samy</cp:lastModifiedBy>
  <cp:revision>31</cp:revision>
  <dcterms:created xsi:type="dcterms:W3CDTF">2026-09-11T15:13:30Z</dcterms:created>
  <dcterms:modified xsi:type="dcterms:W3CDTF">2026-10-05T13:46:24Z</dcterms:modified>
</cp:coreProperties>
</file>