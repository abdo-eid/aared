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Logged</c:v>
                </c:pt>
              </c:strCache>
            </c:strRef>
          </c:tx>
          <c:spPr>
            <a:solidFill>
              <a:srgbClr val="2E7D74"/>
            </a:solidFill>
            <a:effectLst/>
          </c:spPr>
          <c:invertIfNegative val="0"/>
          <c:dLbls>
            <c:numFmt formatCode="#,##0" sourceLinked="0"/>
            <c:txPr>
              <a:bodyPr/>
              <a:lstStyle/>
              <a:p>
                <a:pPr>
                  <a:defRPr b="0" i="0" strike="noStrike" sz="1000" u="none">
                    <a:solidFill>
                      <a:srgbClr val="5B6470"/>
                    </a:solidFill>
                    <a:latin typeface="Arial"/>
                  </a:defRPr>
                </a:pPr>
              </a:p>
            </c:txPr>
            <c:showLegendKey val="0"/>
            <c:showVal val="1"/>
            <c:showCatName val="0"/>
            <c:showSerName val="0"/>
            <c:showPercent val="0"/>
            <c:showBubbleSize val="0"/>
            <c:showLeaderLines val="0"/>
          </c:dLbls>
          <c:cat>
            <c:multiLvlStrRef>
              <c:f>Sheet1!$A$2:$A$4</c:f>
              <c:multiLvlStrCache>
                <c:ptCount val="3"/>
                <c:lvl>
                  <c:pt idx="0">
                    <c:v>Ep 04</c:v>
                  </c:pt>
                  <c:pt idx="1">
                    <c:v>Ep 05</c:v>
                  </c:pt>
                  <c:pt idx="2">
                    <c:v>Ep 06</c:v>
                  </c:pt>
                </c:lvl>
              </c:multiLvlStrCache>
            </c:multiLvlStrRef>
          </c:cat>
          <c:val>
            <c:numRef>
              <c:f>Sheet1!$B$2:$B$4</c:f>
              <c:numCache>
                <c:formatCode>General</c:formatCode>
                <c:ptCount val="3"/>
                <c:pt idx="0">
                  <c:v>39</c:v>
                </c:pt>
                <c:pt idx="1">
                  <c:v>27</c:v>
                </c:pt>
                <c:pt idx="2">
                  <c:v>8</c:v>
                </c:pt>
              </c:numCache>
            </c:numRef>
          </c:val>
        </c:ser>
        <c:ser>
          <c:idx val="1"/>
          <c:order val="1"/>
          <c:tx>
            <c:strRef>
              <c:f>Sheet1!$C$1</c:f>
              <c:strCache>
                <c:ptCount val="1"/>
                <c:pt idx="0">
                  <c:v>Planned</c:v>
                </c:pt>
              </c:strCache>
            </c:strRef>
          </c:tx>
          <c:spPr>
            <a:solidFill>
              <a:srgbClr val="C9D6D3"/>
            </a:solidFill>
            <a:effectLst/>
          </c:spPr>
          <c:invertIfNegative val="0"/>
          <c:dLbls>
            <c:numFmt formatCode="#,##0" sourceLinked="0"/>
            <c:txPr>
              <a:bodyPr/>
              <a:lstStyle/>
              <a:p>
                <a:pPr>
                  <a:defRPr b="0" i="0" strike="noStrike" sz="1000" u="none">
                    <a:solidFill>
                      <a:srgbClr val="5B6470"/>
                    </a:solidFill>
                    <a:latin typeface="Arial"/>
                  </a:defRPr>
                </a:pPr>
              </a:p>
            </c:txPr>
            <c:showLegendKey val="0"/>
            <c:showVal val="1"/>
            <c:showCatName val="0"/>
            <c:showSerName val="0"/>
            <c:showPercent val="0"/>
            <c:showBubbleSize val="0"/>
            <c:showLeaderLines val="0"/>
          </c:dLbls>
          <c:cat>
            <c:multiLvlStrRef>
              <c:f>Sheet1!$A$2:$A$4</c:f>
              <c:multiLvlStrCache>
                <c:ptCount val="3"/>
                <c:lvl>
                  <c:pt idx="0">
                    <c:v>Ep 04</c:v>
                  </c:pt>
                  <c:pt idx="1">
                    <c:v>Ep 05</c:v>
                  </c:pt>
                  <c:pt idx="2">
                    <c:v>Ep 06</c:v>
                  </c:pt>
                </c:lvl>
              </c:multiLvlStrCache>
            </c:multiLvlStrRef>
          </c:cat>
          <c:val>
            <c:numRef>
              <c:f>Sheet1!$C$2:$C$4</c:f>
              <c:numCache>
                <c:formatCode>General</c:formatCode>
                <c:ptCount val="3"/>
                <c:pt idx="0">
                  <c:v>42</c:v>
                </c:pt>
                <c:pt idx="1">
                  <c:v>40</c:v>
                </c:pt>
                <c:pt idx="2">
                  <c:v>38</c:v>
                </c:pt>
              </c:numCache>
            </c:numRef>
          </c:val>
        </c:ser>
        <c:dLbls>
          <c:numFmt formatCode="#,##0" sourceLinked="0"/>
          <c:txPr>
            <a:bodyPr/>
            <a:lstStyle/>
            <a:p>
              <a:pPr>
                <a:defRPr b="0" i="0" strike="noStrike" sz="1000" u="none">
                  <a:solidFill>
                    <a:srgbClr val="5B647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2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47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barrage sequence. Keep this slide up while the room settles — الافتتاحية تُعرض قبل بدء النقاش.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items, twenty minutes. Do not open the grade discussion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client pushes back on the kitchen trim, offer the drone pass instead — not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06 is not late — it has not started. Say that before anyone reads the chart as a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deadline is soft. The broadcast deadline is contractual.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clearance sits between steps 1 and 2 — that is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Decisions requested by Sunday — القرارات مطلوبة قبل الأحد.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640080"/>
            <a:ext cx="822960" cy="822960"/>
          </a:xfrm>
          <a:prstGeom prst="rect">
            <a:avLst/>
          </a:prstGeom>
        </p:spPr>
      </p:pic>
      <p:sp>
        <p:nvSpPr>
          <p:cNvPr id="3" name="Text 0"/>
          <p:cNvSpPr txBox="1"/>
          <p:nvPr/>
        </p:nvSpPr>
        <p:spPr>
          <a:xfrm>
            <a:off x="685800" y="1828800"/>
            <a:ext cx="7315200" cy="320040"/>
          </a:xfrm>
          <a:prstGeom prst="rect">
            <a:avLst/>
          </a:prstGeom>
          <a:noFill/>
          <a:ln/>
        </p:spPr>
        <p:txBody>
          <a:bodyPr wrap="square" lIns="0" tIns="0" rIns="0" bIns="0" rtlCol="0" anchor="ctr"/>
          <a:lstStyle/>
          <a:p>
            <a:pPr indent="0" marL="0">
              <a:buNone/>
            </a:pPr>
            <a:r>
              <a:rPr lang="en-US" sz="1200" b="1" spc="600" kern="0" dirty="0">
                <a:solidFill>
                  <a:srgbClr val="E8A33D"/>
                </a:solidFill>
                <a:latin typeface="Arial" pitchFamily="34" charset="0"/>
                <a:ea typeface="Arial" pitchFamily="34" charset="-122"/>
                <a:cs typeface="Arial" pitchFamily="34" charset="-120"/>
              </a:rPr>
              <a:t>POST-PRODUCTION REVIEW</a:t>
            </a:r>
            <a:endParaRPr lang="en-US" sz="1200" dirty="0"/>
          </a:p>
        </p:txBody>
      </p:sp>
      <p:sp>
        <p:nvSpPr>
          <p:cNvPr id="4" name="Text 1"/>
          <p:cNvSpPr txBox="1"/>
          <p:nvPr/>
        </p:nvSpPr>
        <p:spPr>
          <a:xfrm>
            <a:off x="685800" y="2194560"/>
            <a:ext cx="86868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Sawt al-Nahr</a:t>
            </a:r>
            <a:endParaRPr lang="en-US" sz="5400" dirty="0"/>
          </a:p>
        </p:txBody>
      </p:sp>
      <p:sp>
        <p:nvSpPr>
          <p:cNvPr id="5" name="Text 2"/>
          <p:cNvSpPr txBox="1"/>
          <p:nvPr/>
        </p:nvSpPr>
        <p:spPr>
          <a:xfrm>
            <a:off x="685800" y="3154680"/>
            <a:ext cx="8686800" cy="548640"/>
          </a:xfrm>
          <a:prstGeom prst="rect">
            <a:avLst/>
          </a:prstGeom>
          <a:noFill/>
          <a:ln/>
        </p:spPr>
        <p:txBody>
          <a:bodyPr wrap="square" lIns="0" tIns="0" rIns="0" bIns="0" rtlCol="0" anchor="ctr"/>
          <a:lstStyle/>
          <a:p>
            <a:pPr rtl="1" algn="l" indent="0" marL="0">
              <a:buNone/>
            </a:pPr>
            <a:r>
              <a:rPr lang="en-US" sz="2400" dirty="0">
                <a:solidFill>
                  <a:srgbClr val="F4F1EC"/>
                </a:solidFill>
                <a:latin typeface="Arial" pitchFamily="34" charset="0"/>
                <a:ea typeface="Arial" pitchFamily="34" charset="-122"/>
                <a:cs typeface="Arial" pitchFamily="34" charset="-120"/>
              </a:rPr>
              <a:t>صوت النهر — مراجعة أعمال ما بعد الإنتاج</a:t>
            </a:r>
            <a:endParaRPr lang="en-US" sz="2400" dirty="0"/>
          </a:p>
        </p:txBody>
      </p:sp>
      <p:sp>
        <p:nvSpPr>
          <p:cNvPr id="6" name="Shape 3"/>
          <p:cNvSpPr/>
          <p:nvPr/>
        </p:nvSpPr>
        <p:spPr>
          <a:xfrm>
            <a:off x="713232" y="3977640"/>
            <a:ext cx="2194560" cy="0"/>
          </a:xfrm>
          <a:prstGeom prst="line">
            <a:avLst/>
          </a:prstGeom>
          <a:noFill/>
          <a:ln w="31750">
            <a:solidFill>
              <a:srgbClr val="E8A33D"/>
            </a:solidFill>
            <a:prstDash val="solid"/>
          </a:ln>
        </p:spPr>
      </p:sp>
      <p:sp>
        <p:nvSpPr>
          <p:cNvPr id="7" name="Text 4"/>
          <p:cNvSpPr txBox="1"/>
          <p:nvPr/>
        </p:nvSpPr>
        <p:spPr>
          <a:xfrm>
            <a:off x="685800" y="4206240"/>
            <a:ext cx="5486400" cy="822960"/>
          </a:xfrm>
          <a:prstGeom prst="rect">
            <a:avLst/>
          </a:prstGeom>
          <a:noFill/>
          <a:ln/>
        </p:spPr>
        <p:txBody>
          <a:bodyPr wrap="square" lIns="0" tIns="0" rIns="0" bIns="0" rtlCol="0" anchor="ctr"/>
          <a:lstStyle/>
          <a:p>
            <a:pPr indent="0" marL="0">
              <a:lnSpc>
                <a:spcPts val="2200"/>
              </a:lnSpc>
              <a:buNone/>
            </a:pPr>
            <a:r>
              <a:rPr lang="en-US" sz="1400" dirty="0">
                <a:solidFill>
                  <a:srgbClr val="F4F1EC"/>
                </a:solidFill>
                <a:latin typeface="Arial" pitchFamily="34" charset="0"/>
                <a:ea typeface="Arial" pitchFamily="34" charset="-122"/>
                <a:cs typeface="Arial" pitchFamily="34" charset="-120"/>
              </a:rPr>
              <a:t>Season 2  ·  Episodes 04–06</a:t>
            </a:r>
            <a:pPr indent="0" marL="0">
              <a:lnSpc>
                <a:spcPts val="2200"/>
              </a:lnSpc>
              <a:buNone/>
            </a:pPr>
            <a:r>
              <a:rPr lang="en-US" sz="1400" dirty="0">
                <a:solidFill>
                  <a:srgbClr val="000000"/>
                </a:solidFill>
                <a:latin typeface="Arial" pitchFamily="34" charset="0"/>
                <a:ea typeface="Arial" pitchFamily="34" charset="-122"/>
                <a:cs typeface="Arial" pitchFamily="34" charset="-120"/>
              </a:rPr>
              <a:t>
</a:t>
            </a:r>
            <a:pPr indent="0" marL="0">
              <a:lnSpc>
                <a:spcPts val="2200"/>
              </a:lnSpc>
              <a:buNone/>
            </a:pPr>
            <a:r>
              <a:rPr lang="en-US" sz="1400" dirty="0">
                <a:solidFill>
                  <a:srgbClr val="9AA1AB"/>
                </a:solidFill>
                <a:latin typeface="Arial" pitchFamily="34" charset="0"/>
                <a:ea typeface="Arial" pitchFamily="34" charset="-122"/>
                <a:cs typeface="Arial" pitchFamily="34" charset="-120"/>
              </a:rPr>
              <a:t>Draft 3.1  ·  12 May 2026  ·  Internal</a:t>
            </a:r>
            <a:endParaRPr lang="en-US" sz="1400" dirty="0"/>
          </a:p>
        </p:txBody>
      </p:sp>
      <p:pic>
        <p:nvPicPr>
          <p:cNvPr id="8" name="Image 1" descr="preencoded.png">    </p:cNvPr>
          <p:cNvPicPr>
            <a:picLocks noChangeAspect="1"/>
          </p:cNvPicPr>
          <p:nvPr/>
        </p:nvPicPr>
        <p:blipFill>
          <a:blip r:embed="rId2"/>
          <a:stretch>
            <a:fillRect/>
          </a:stretch>
        </p:blipFill>
        <p:spPr>
          <a:xfrm>
            <a:off x="7818120" y="3840480"/>
            <a:ext cx="3657600" cy="2057400"/>
          </a:xfrm>
          <a:prstGeom prst="rect">
            <a:avLst/>
          </a:prstGeom>
          <a:effectLst>
            <a:outerShdw sx="100000" sy="100000" kx="0" ky="0" algn="bl" rotWithShape="0" blurRad="177800" dist="50800" dir="5400000">
              <a:srgbClr val="000000">
                <a:alpha val="4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863840" cy="502920"/>
          </a:xfrm>
          <a:prstGeom prst="rect">
            <a:avLst/>
          </a:prstGeom>
          <a:noFill/>
          <a:ln/>
        </p:spPr>
        <p:txBody>
          <a:bodyPr wrap="square" lIns="0" tIns="0" rIns="0" bIns="0" rtlCol="0" anchor="ctr"/>
          <a:lstStyle/>
          <a:p>
            <a:pPr indent="0" marL="0">
              <a:buNone/>
            </a:pPr>
            <a:r>
              <a:rPr lang="en-US" sz="3200" b="1" dirty="0">
                <a:solidFill>
                  <a:srgbClr val="12171F"/>
                </a:solidFill>
                <a:latin typeface="Cambria" pitchFamily="34" charset="0"/>
                <a:ea typeface="Cambria" pitchFamily="34" charset="-122"/>
                <a:cs typeface="Cambria" pitchFamily="34" charset="-120"/>
              </a:rPr>
              <a:t>What we are reviewing</a:t>
            </a:r>
            <a:endParaRPr lang="en-US" sz="3200" dirty="0"/>
          </a:p>
        </p:txBody>
      </p:sp>
      <p:sp>
        <p:nvSpPr>
          <p:cNvPr id="3" name="Text 1"/>
          <p:cNvSpPr txBox="1"/>
          <p:nvPr/>
        </p:nvSpPr>
        <p:spPr>
          <a:xfrm>
            <a:off x="7315200" y="475488"/>
            <a:ext cx="4297680" cy="411480"/>
          </a:xfrm>
          <a:prstGeom prst="rect">
            <a:avLst/>
          </a:prstGeom>
          <a:noFill/>
          <a:ln/>
        </p:spPr>
        <p:txBody>
          <a:bodyPr wrap="square" lIns="0" tIns="0" rIns="0" bIns="0" rtlCol="0" anchor="ctr"/>
          <a:lstStyle/>
          <a:p>
            <a:pPr rtl="1" algn="r" indent="0" marL="0">
              <a:buNone/>
            </a:pPr>
            <a:r>
              <a:rPr lang="en-US" sz="1800" dirty="0">
                <a:solidFill>
                  <a:srgbClr val="2E7D74"/>
                </a:solidFill>
                <a:latin typeface="Arial" pitchFamily="34" charset="0"/>
                <a:ea typeface="Arial" pitchFamily="34" charset="-122"/>
                <a:cs typeface="Arial" pitchFamily="34" charset="-120"/>
              </a:rPr>
              <a:t>ما سنراجعه اليوم</a:t>
            </a:r>
            <a:endParaRPr lang="en-US" sz="1800" dirty="0"/>
          </a:p>
        </p:txBody>
      </p:sp>
      <p:sp>
        <p:nvSpPr>
          <p:cNvPr id="4" name="Shape 2"/>
          <p:cNvSpPr/>
          <p:nvPr/>
        </p:nvSpPr>
        <p:spPr>
          <a:xfrm>
            <a:off x="548640" y="1417320"/>
            <a:ext cx="5394960" cy="1828800"/>
          </a:xfrm>
          <a:prstGeom prst="roundRect">
            <a:avLst>
              <a:gd name="adj" fmla="val 3000"/>
            </a:avLst>
          </a:prstGeom>
          <a:solidFill>
            <a:srgbClr val="F4F1EC"/>
          </a:solidFill>
          <a:ln/>
        </p:spPr>
      </p:sp>
      <p:sp>
        <p:nvSpPr>
          <p:cNvPr id="5" name="Shape 3"/>
          <p:cNvSpPr/>
          <p:nvPr/>
        </p:nvSpPr>
        <p:spPr>
          <a:xfrm>
            <a:off x="868680" y="1737360"/>
            <a:ext cx="384048" cy="384048"/>
          </a:xfrm>
          <a:prstGeom prst="ellipse">
            <a:avLst/>
          </a:prstGeom>
          <a:solidFill>
            <a:srgbClr val="E8A33D"/>
          </a:solidFill>
          <a:ln/>
        </p:spPr>
      </p:sp>
      <p:sp>
        <p:nvSpPr>
          <p:cNvPr id="6" name="Text 4"/>
          <p:cNvSpPr txBox="1"/>
          <p:nvPr/>
        </p:nvSpPr>
        <p:spPr>
          <a:xfrm>
            <a:off x="868680" y="1737360"/>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01</a:t>
            </a:r>
            <a:endParaRPr lang="en-US" sz="1300" dirty="0"/>
          </a:p>
        </p:txBody>
      </p:sp>
      <p:sp>
        <p:nvSpPr>
          <p:cNvPr id="7" name="Text 5"/>
          <p:cNvSpPr txBox="1"/>
          <p:nvPr/>
        </p:nvSpPr>
        <p:spPr>
          <a:xfrm>
            <a:off x="1417320" y="1691640"/>
            <a:ext cx="2377440" cy="365760"/>
          </a:xfrm>
          <a:prstGeom prst="rect">
            <a:avLst/>
          </a:prstGeom>
          <a:noFill/>
          <a:ln/>
        </p:spPr>
        <p:txBody>
          <a:bodyPr wrap="square" lIns="0" tIns="0" rIns="0" bIns="0" rtlCol="0" anchor="ctr"/>
          <a:lstStyle/>
          <a:p>
            <a:pPr indent="0" marL="0">
              <a:buNone/>
            </a:pPr>
            <a:r>
              <a:rPr lang="en-US" sz="1900" b="1" dirty="0">
                <a:solidFill>
                  <a:srgbClr val="12171F"/>
                </a:solidFill>
                <a:latin typeface="Cambria" pitchFamily="34" charset="0"/>
                <a:ea typeface="Cambria" pitchFamily="34" charset="-122"/>
                <a:cs typeface="Cambria" pitchFamily="34" charset="-120"/>
              </a:rPr>
              <a:t>Cut status</a:t>
            </a:r>
            <a:endParaRPr lang="en-US" sz="1900" dirty="0"/>
          </a:p>
        </p:txBody>
      </p:sp>
      <p:sp>
        <p:nvSpPr>
          <p:cNvPr id="8" name="Text 6"/>
          <p:cNvSpPr txBox="1"/>
          <p:nvPr/>
        </p:nvSpPr>
        <p:spPr>
          <a:xfrm>
            <a:off x="3749040" y="1691640"/>
            <a:ext cx="1874520" cy="365760"/>
          </a:xfrm>
          <a:prstGeom prst="rect">
            <a:avLst/>
          </a:prstGeom>
          <a:noFill/>
          <a:ln/>
        </p:spPr>
        <p:txBody>
          <a:bodyPr wrap="square" lIns="0" tIns="0" rIns="0" bIns="0" rtlCol="0" anchor="ctr"/>
          <a:lstStyle/>
          <a:p>
            <a:pPr rtl="1" algn="r" indent="0" marL="0">
              <a:buNone/>
            </a:pPr>
            <a:r>
              <a:rPr lang="en-US" sz="1500" dirty="0">
                <a:solidFill>
                  <a:srgbClr val="2E7D74"/>
                </a:solidFill>
                <a:latin typeface="Arial" pitchFamily="34" charset="0"/>
                <a:ea typeface="Arial" pitchFamily="34" charset="-122"/>
                <a:cs typeface="Arial" pitchFamily="34" charset="-120"/>
              </a:rPr>
              <a:t>حالة المونتاج</a:t>
            </a:r>
            <a:endParaRPr lang="en-US" sz="1500" dirty="0"/>
          </a:p>
        </p:txBody>
      </p:sp>
      <p:sp>
        <p:nvSpPr>
          <p:cNvPr id="9" name="Text 7"/>
          <p:cNvSpPr txBox="1"/>
          <p:nvPr/>
        </p:nvSpPr>
        <p:spPr>
          <a:xfrm>
            <a:off x="1417320" y="2194560"/>
            <a:ext cx="4206240" cy="822960"/>
          </a:xfrm>
          <a:prstGeom prst="rect">
            <a:avLst/>
          </a:prstGeom>
          <a:noFill/>
          <a:ln/>
        </p:spPr>
        <p:txBody>
          <a:bodyPr wrap="square" lIns="0" tIns="0" rIns="0" bIns="0" rtlCol="0" anchor="ctr"/>
          <a:lstStyle/>
          <a:p>
            <a:pPr indent="0" marL="0">
              <a:lnSpc>
                <a:spcPts val="1700"/>
              </a:lnSpc>
              <a:buNone/>
            </a:pPr>
            <a:r>
              <a:rPr lang="en-US" sz="1200" dirty="0">
                <a:solidFill>
                  <a:srgbClr val="5B6470"/>
                </a:solidFill>
                <a:latin typeface="Arial" pitchFamily="34" charset="0"/>
                <a:ea typeface="Arial" pitchFamily="34" charset="-122"/>
                <a:cs typeface="Arial" pitchFamily="34" charset="-120"/>
              </a:rPr>
              <a:t>Where each of the three episodes stands against the lock date.</a:t>
            </a:r>
            <a:endParaRPr lang="en-US" sz="1200" dirty="0"/>
          </a:p>
        </p:txBody>
      </p:sp>
      <p:sp>
        <p:nvSpPr>
          <p:cNvPr id="10" name="Shape 8"/>
          <p:cNvSpPr/>
          <p:nvPr/>
        </p:nvSpPr>
        <p:spPr>
          <a:xfrm>
            <a:off x="6309360" y="1417320"/>
            <a:ext cx="5394960" cy="1828800"/>
          </a:xfrm>
          <a:prstGeom prst="roundRect">
            <a:avLst>
              <a:gd name="adj" fmla="val 3000"/>
            </a:avLst>
          </a:prstGeom>
          <a:solidFill>
            <a:srgbClr val="F4F1EC"/>
          </a:solidFill>
          <a:ln/>
        </p:spPr>
      </p:sp>
      <p:sp>
        <p:nvSpPr>
          <p:cNvPr id="11" name="Shape 9"/>
          <p:cNvSpPr/>
          <p:nvPr/>
        </p:nvSpPr>
        <p:spPr>
          <a:xfrm>
            <a:off x="6629400" y="1737360"/>
            <a:ext cx="384048" cy="384048"/>
          </a:xfrm>
          <a:prstGeom prst="ellipse">
            <a:avLst/>
          </a:prstGeom>
          <a:solidFill>
            <a:srgbClr val="E8A33D"/>
          </a:solidFill>
          <a:ln/>
        </p:spPr>
      </p:sp>
      <p:sp>
        <p:nvSpPr>
          <p:cNvPr id="12" name="Text 10"/>
          <p:cNvSpPr txBox="1"/>
          <p:nvPr/>
        </p:nvSpPr>
        <p:spPr>
          <a:xfrm>
            <a:off x="6629400" y="1737360"/>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02</a:t>
            </a:r>
            <a:endParaRPr lang="en-US" sz="1300" dirty="0"/>
          </a:p>
        </p:txBody>
      </p:sp>
      <p:sp>
        <p:nvSpPr>
          <p:cNvPr id="13" name="Text 11"/>
          <p:cNvSpPr txBox="1"/>
          <p:nvPr/>
        </p:nvSpPr>
        <p:spPr>
          <a:xfrm>
            <a:off x="7178040" y="1691640"/>
            <a:ext cx="2377440" cy="365760"/>
          </a:xfrm>
          <a:prstGeom prst="rect">
            <a:avLst/>
          </a:prstGeom>
          <a:noFill/>
          <a:ln/>
        </p:spPr>
        <p:txBody>
          <a:bodyPr wrap="square" lIns="0" tIns="0" rIns="0" bIns="0" rtlCol="0" anchor="ctr"/>
          <a:lstStyle/>
          <a:p>
            <a:pPr indent="0" marL="0">
              <a:buNone/>
            </a:pPr>
            <a:r>
              <a:rPr lang="en-US" sz="1900" b="1" dirty="0">
                <a:solidFill>
                  <a:srgbClr val="12171F"/>
                </a:solidFill>
                <a:latin typeface="Cambria" pitchFamily="34" charset="0"/>
                <a:ea typeface="Cambria" pitchFamily="34" charset="-122"/>
                <a:cs typeface="Cambria" pitchFamily="34" charset="-120"/>
              </a:rPr>
              <a:t>Delivery specs</a:t>
            </a:r>
            <a:endParaRPr lang="en-US" sz="1900" dirty="0"/>
          </a:p>
        </p:txBody>
      </p:sp>
      <p:sp>
        <p:nvSpPr>
          <p:cNvPr id="14" name="Text 12"/>
          <p:cNvSpPr txBox="1"/>
          <p:nvPr/>
        </p:nvSpPr>
        <p:spPr>
          <a:xfrm>
            <a:off x="9509760" y="1691640"/>
            <a:ext cx="1874520" cy="365760"/>
          </a:xfrm>
          <a:prstGeom prst="rect">
            <a:avLst/>
          </a:prstGeom>
          <a:noFill/>
          <a:ln/>
        </p:spPr>
        <p:txBody>
          <a:bodyPr wrap="square" lIns="0" tIns="0" rIns="0" bIns="0" rtlCol="0" anchor="ctr"/>
          <a:lstStyle/>
          <a:p>
            <a:pPr rtl="1" algn="r" indent="0" marL="0">
              <a:buNone/>
            </a:pPr>
            <a:r>
              <a:rPr lang="en-US" sz="1500" dirty="0">
                <a:solidFill>
                  <a:srgbClr val="2E7D74"/>
                </a:solidFill>
                <a:latin typeface="Arial" pitchFamily="34" charset="0"/>
                <a:ea typeface="Arial" pitchFamily="34" charset="-122"/>
                <a:cs typeface="Arial" pitchFamily="34" charset="-120"/>
              </a:rPr>
              <a:t>مواصفات التسليم</a:t>
            </a:r>
            <a:endParaRPr lang="en-US" sz="1500" dirty="0"/>
          </a:p>
        </p:txBody>
      </p:sp>
      <p:sp>
        <p:nvSpPr>
          <p:cNvPr id="15" name="Text 13"/>
          <p:cNvSpPr txBox="1"/>
          <p:nvPr/>
        </p:nvSpPr>
        <p:spPr>
          <a:xfrm>
            <a:off x="7178040" y="2194560"/>
            <a:ext cx="4206240" cy="822960"/>
          </a:xfrm>
          <a:prstGeom prst="rect">
            <a:avLst/>
          </a:prstGeom>
          <a:noFill/>
          <a:ln/>
        </p:spPr>
        <p:txBody>
          <a:bodyPr wrap="square" lIns="0" tIns="0" rIns="0" bIns="0" rtlCol="0" anchor="ctr"/>
          <a:lstStyle/>
          <a:p>
            <a:pPr indent="0" marL="0">
              <a:lnSpc>
                <a:spcPts val="1700"/>
              </a:lnSpc>
              <a:buNone/>
            </a:pPr>
            <a:r>
              <a:rPr lang="en-US" sz="1200" dirty="0">
                <a:solidFill>
                  <a:srgbClr val="5B6470"/>
                </a:solidFill>
                <a:latin typeface="Arial" pitchFamily="34" charset="0"/>
                <a:ea typeface="Arial" pitchFamily="34" charset="-122"/>
                <a:cs typeface="Arial" pitchFamily="34" charset="-120"/>
              </a:rPr>
              <a:t>Codec, loudness and subtitle rules for master and web versions.</a:t>
            </a:r>
            <a:endParaRPr lang="en-US" sz="1200" dirty="0"/>
          </a:p>
        </p:txBody>
      </p:sp>
      <p:sp>
        <p:nvSpPr>
          <p:cNvPr id="16" name="Shape 14"/>
          <p:cNvSpPr/>
          <p:nvPr/>
        </p:nvSpPr>
        <p:spPr>
          <a:xfrm>
            <a:off x="548640" y="3566160"/>
            <a:ext cx="5394960" cy="1828800"/>
          </a:xfrm>
          <a:prstGeom prst="roundRect">
            <a:avLst>
              <a:gd name="adj" fmla="val 3000"/>
            </a:avLst>
          </a:prstGeom>
          <a:solidFill>
            <a:srgbClr val="F4F1EC"/>
          </a:solidFill>
          <a:ln/>
        </p:spPr>
      </p:sp>
      <p:sp>
        <p:nvSpPr>
          <p:cNvPr id="17" name="Shape 15"/>
          <p:cNvSpPr/>
          <p:nvPr/>
        </p:nvSpPr>
        <p:spPr>
          <a:xfrm>
            <a:off x="868680" y="3886200"/>
            <a:ext cx="384048" cy="384048"/>
          </a:xfrm>
          <a:prstGeom prst="ellipse">
            <a:avLst/>
          </a:prstGeom>
          <a:solidFill>
            <a:srgbClr val="E8A33D"/>
          </a:solidFill>
          <a:ln/>
        </p:spPr>
      </p:sp>
      <p:sp>
        <p:nvSpPr>
          <p:cNvPr id="18" name="Text 16"/>
          <p:cNvSpPr txBox="1"/>
          <p:nvPr/>
        </p:nvSpPr>
        <p:spPr>
          <a:xfrm>
            <a:off x="868680" y="3886200"/>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03</a:t>
            </a:r>
            <a:endParaRPr lang="en-US" sz="1300" dirty="0"/>
          </a:p>
        </p:txBody>
      </p:sp>
      <p:sp>
        <p:nvSpPr>
          <p:cNvPr id="19" name="Text 17"/>
          <p:cNvSpPr txBox="1"/>
          <p:nvPr/>
        </p:nvSpPr>
        <p:spPr>
          <a:xfrm>
            <a:off x="1417320" y="3840480"/>
            <a:ext cx="2377440" cy="365760"/>
          </a:xfrm>
          <a:prstGeom prst="rect">
            <a:avLst/>
          </a:prstGeom>
          <a:noFill/>
          <a:ln/>
        </p:spPr>
        <p:txBody>
          <a:bodyPr wrap="square" lIns="0" tIns="0" rIns="0" bIns="0" rtlCol="0" anchor="ctr"/>
          <a:lstStyle/>
          <a:p>
            <a:pPr indent="0" marL="0">
              <a:buNone/>
            </a:pPr>
            <a:r>
              <a:rPr lang="en-US" sz="1900" b="1" dirty="0">
                <a:solidFill>
                  <a:srgbClr val="12171F"/>
                </a:solidFill>
                <a:latin typeface="Cambria" pitchFamily="34" charset="0"/>
                <a:ea typeface="Cambria" pitchFamily="34" charset="-122"/>
                <a:cs typeface="Cambria" pitchFamily="34" charset="-120"/>
              </a:rPr>
              <a:t>Schedule risk</a:t>
            </a:r>
            <a:endParaRPr lang="en-US" sz="1900" dirty="0"/>
          </a:p>
        </p:txBody>
      </p:sp>
      <p:sp>
        <p:nvSpPr>
          <p:cNvPr id="20" name="Text 18"/>
          <p:cNvSpPr txBox="1"/>
          <p:nvPr/>
        </p:nvSpPr>
        <p:spPr>
          <a:xfrm>
            <a:off x="3749040" y="3840480"/>
            <a:ext cx="1874520" cy="365760"/>
          </a:xfrm>
          <a:prstGeom prst="rect">
            <a:avLst/>
          </a:prstGeom>
          <a:noFill/>
          <a:ln/>
        </p:spPr>
        <p:txBody>
          <a:bodyPr wrap="square" lIns="0" tIns="0" rIns="0" bIns="0" rtlCol="0" anchor="ctr"/>
          <a:lstStyle/>
          <a:p>
            <a:pPr rtl="1" algn="r" indent="0" marL="0">
              <a:buNone/>
            </a:pPr>
            <a:r>
              <a:rPr lang="en-US" sz="1500" dirty="0">
                <a:solidFill>
                  <a:srgbClr val="2E7D74"/>
                </a:solidFill>
                <a:latin typeface="Arial" pitchFamily="34" charset="0"/>
                <a:ea typeface="Arial" pitchFamily="34" charset="-122"/>
                <a:cs typeface="Arial" pitchFamily="34" charset="-120"/>
              </a:rPr>
              <a:t>مخاطر الجدول</a:t>
            </a:r>
            <a:endParaRPr lang="en-US" sz="1500" dirty="0"/>
          </a:p>
        </p:txBody>
      </p:sp>
      <p:sp>
        <p:nvSpPr>
          <p:cNvPr id="21" name="Text 19"/>
          <p:cNvSpPr txBox="1"/>
          <p:nvPr/>
        </p:nvSpPr>
        <p:spPr>
          <a:xfrm>
            <a:off x="1417320" y="4343400"/>
            <a:ext cx="4206240" cy="822960"/>
          </a:xfrm>
          <a:prstGeom prst="rect">
            <a:avLst/>
          </a:prstGeom>
          <a:noFill/>
          <a:ln/>
        </p:spPr>
        <p:txBody>
          <a:bodyPr wrap="square" lIns="0" tIns="0" rIns="0" bIns="0" rtlCol="0" anchor="ctr"/>
          <a:lstStyle/>
          <a:p>
            <a:pPr indent="0" marL="0">
              <a:lnSpc>
                <a:spcPts val="1700"/>
              </a:lnSpc>
              <a:buNone/>
            </a:pPr>
            <a:r>
              <a:rPr lang="en-US" sz="1200" dirty="0">
                <a:solidFill>
                  <a:srgbClr val="5B6470"/>
                </a:solidFill>
                <a:latin typeface="Arial" pitchFamily="34" charset="0"/>
                <a:ea typeface="Arial" pitchFamily="34" charset="-122"/>
                <a:cs typeface="Arial" pitchFamily="34" charset="-120"/>
              </a:rPr>
              <a:t>Archive clearance is the only item that can move the lock.</a:t>
            </a:r>
            <a:endParaRPr lang="en-US" sz="1200" dirty="0"/>
          </a:p>
        </p:txBody>
      </p:sp>
      <p:sp>
        <p:nvSpPr>
          <p:cNvPr id="22" name="Shape 20"/>
          <p:cNvSpPr/>
          <p:nvPr/>
        </p:nvSpPr>
        <p:spPr>
          <a:xfrm>
            <a:off x="6309360" y="3566160"/>
            <a:ext cx="5394960" cy="1828800"/>
          </a:xfrm>
          <a:prstGeom prst="roundRect">
            <a:avLst>
              <a:gd name="adj" fmla="val 3000"/>
            </a:avLst>
          </a:prstGeom>
          <a:solidFill>
            <a:srgbClr val="F4F1EC"/>
          </a:solidFill>
          <a:ln/>
        </p:spPr>
      </p:sp>
      <p:sp>
        <p:nvSpPr>
          <p:cNvPr id="23" name="Shape 21"/>
          <p:cNvSpPr/>
          <p:nvPr/>
        </p:nvSpPr>
        <p:spPr>
          <a:xfrm>
            <a:off x="6629400" y="3886200"/>
            <a:ext cx="384048" cy="384048"/>
          </a:xfrm>
          <a:prstGeom prst="ellipse">
            <a:avLst/>
          </a:prstGeom>
          <a:solidFill>
            <a:srgbClr val="E8A33D"/>
          </a:solidFill>
          <a:ln/>
        </p:spPr>
      </p:sp>
      <p:sp>
        <p:nvSpPr>
          <p:cNvPr id="24" name="Text 22"/>
          <p:cNvSpPr txBox="1"/>
          <p:nvPr/>
        </p:nvSpPr>
        <p:spPr>
          <a:xfrm>
            <a:off x="6629400" y="3886200"/>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04</a:t>
            </a:r>
            <a:endParaRPr lang="en-US" sz="1300" dirty="0"/>
          </a:p>
        </p:txBody>
      </p:sp>
      <p:sp>
        <p:nvSpPr>
          <p:cNvPr id="25" name="Text 23"/>
          <p:cNvSpPr txBox="1"/>
          <p:nvPr/>
        </p:nvSpPr>
        <p:spPr>
          <a:xfrm>
            <a:off x="7178040" y="3840480"/>
            <a:ext cx="2377440" cy="365760"/>
          </a:xfrm>
          <a:prstGeom prst="rect">
            <a:avLst/>
          </a:prstGeom>
          <a:noFill/>
          <a:ln/>
        </p:spPr>
        <p:txBody>
          <a:bodyPr wrap="square" lIns="0" tIns="0" rIns="0" bIns="0" rtlCol="0" anchor="ctr"/>
          <a:lstStyle/>
          <a:p>
            <a:pPr indent="0" marL="0">
              <a:buNone/>
            </a:pPr>
            <a:r>
              <a:rPr lang="en-US" sz="1900" b="1" dirty="0">
                <a:solidFill>
                  <a:srgbClr val="12171F"/>
                </a:solidFill>
                <a:latin typeface="Cambria" pitchFamily="34" charset="0"/>
                <a:ea typeface="Cambria" pitchFamily="34" charset="-122"/>
                <a:cs typeface="Cambria" pitchFamily="34" charset="-120"/>
              </a:rPr>
              <a:t>Decisions needed</a:t>
            </a:r>
            <a:endParaRPr lang="en-US" sz="1900" dirty="0"/>
          </a:p>
        </p:txBody>
      </p:sp>
      <p:sp>
        <p:nvSpPr>
          <p:cNvPr id="26" name="Text 24"/>
          <p:cNvSpPr txBox="1"/>
          <p:nvPr/>
        </p:nvSpPr>
        <p:spPr>
          <a:xfrm>
            <a:off x="9509760" y="3840480"/>
            <a:ext cx="1874520" cy="365760"/>
          </a:xfrm>
          <a:prstGeom prst="rect">
            <a:avLst/>
          </a:prstGeom>
          <a:noFill/>
          <a:ln/>
        </p:spPr>
        <p:txBody>
          <a:bodyPr wrap="square" lIns="0" tIns="0" rIns="0" bIns="0" rtlCol="0" anchor="ctr"/>
          <a:lstStyle/>
          <a:p>
            <a:pPr rtl="1" algn="r" indent="0" marL="0">
              <a:buNone/>
            </a:pPr>
            <a:r>
              <a:rPr lang="en-US" sz="1500" dirty="0">
                <a:solidFill>
                  <a:srgbClr val="2E7D74"/>
                </a:solidFill>
                <a:latin typeface="Arial" pitchFamily="34" charset="0"/>
                <a:ea typeface="Arial" pitchFamily="34" charset="-122"/>
                <a:cs typeface="Arial" pitchFamily="34" charset="-120"/>
              </a:rPr>
              <a:t>قرارات مطلوبة</a:t>
            </a:r>
            <a:endParaRPr lang="en-US" sz="1500" dirty="0"/>
          </a:p>
        </p:txBody>
      </p:sp>
      <p:sp>
        <p:nvSpPr>
          <p:cNvPr id="27" name="Text 25"/>
          <p:cNvSpPr txBox="1"/>
          <p:nvPr/>
        </p:nvSpPr>
        <p:spPr>
          <a:xfrm>
            <a:off x="7178040" y="4343400"/>
            <a:ext cx="4206240" cy="822960"/>
          </a:xfrm>
          <a:prstGeom prst="rect">
            <a:avLst/>
          </a:prstGeom>
          <a:noFill/>
          <a:ln/>
        </p:spPr>
        <p:txBody>
          <a:bodyPr wrap="square" lIns="0" tIns="0" rIns="0" bIns="0" rtlCol="0" anchor="ctr"/>
          <a:lstStyle/>
          <a:p>
            <a:pPr indent="0" marL="0">
              <a:lnSpc>
                <a:spcPts val="1700"/>
              </a:lnSpc>
              <a:buNone/>
            </a:pPr>
            <a:r>
              <a:rPr lang="en-US" sz="1200" dirty="0">
                <a:solidFill>
                  <a:srgbClr val="5B6470"/>
                </a:solidFill>
                <a:latin typeface="Arial" pitchFamily="34" charset="0"/>
                <a:ea typeface="Arial" pitchFamily="34" charset="-122"/>
                <a:cs typeface="Arial" pitchFamily="34" charset="-120"/>
              </a:rPr>
              <a:t>Three calls we need from the client before Sunday.</a:t>
            </a:r>
            <a:endParaRPr lang="en-US" sz="1200" dirty="0"/>
          </a:p>
        </p:txBody>
      </p:sp>
      <p:sp>
        <p:nvSpPr>
          <p:cNvPr id="28" name="Text 26"/>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900" dirty="0">
                <a:solidFill>
                  <a:srgbClr val="9AA1AB"/>
                </a:solidFill>
                <a:latin typeface="Arial" pitchFamily="34" charset="0"/>
                <a:ea typeface="Arial" pitchFamily="34" charset="-122"/>
                <a:cs typeface="Arial" pitchFamily="34" charset="-120"/>
              </a:rPr>
              <a:t>Nile Frame Studio  ·  استوديو نايل فريم</a:t>
            </a:r>
            <a:endParaRPr lang="en-US" sz="900" dirty="0"/>
          </a:p>
        </p:txBody>
      </p:sp>
      <p:sp>
        <p:nvSpPr>
          <p:cNvPr id="29" name="Text 2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00" dirty="0">
                <a:solidFill>
                  <a:srgbClr val="9AA1A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863840" cy="502920"/>
          </a:xfrm>
          <a:prstGeom prst="rect">
            <a:avLst/>
          </a:prstGeom>
          <a:noFill/>
          <a:ln/>
        </p:spPr>
        <p:txBody>
          <a:bodyPr wrap="square" lIns="0" tIns="0" rIns="0" bIns="0" rtlCol="0" anchor="ctr"/>
          <a:lstStyle/>
          <a:p>
            <a:pPr indent="0" marL="0">
              <a:buNone/>
            </a:pPr>
            <a:r>
              <a:rPr lang="en-US" sz="3200" b="1" dirty="0">
                <a:solidFill>
                  <a:srgbClr val="12171F"/>
                </a:solidFill>
                <a:latin typeface="Cambria" pitchFamily="34" charset="0"/>
                <a:ea typeface="Cambria" pitchFamily="34" charset="-122"/>
                <a:cs typeface="Cambria" pitchFamily="34" charset="-120"/>
              </a:rPr>
              <a:t>Episode 04 — where the cut stands</a:t>
            </a:r>
            <a:endParaRPr lang="en-US" sz="3200" dirty="0"/>
          </a:p>
        </p:txBody>
      </p:sp>
      <p:sp>
        <p:nvSpPr>
          <p:cNvPr id="3" name="Text 1"/>
          <p:cNvSpPr txBox="1"/>
          <p:nvPr/>
        </p:nvSpPr>
        <p:spPr>
          <a:xfrm>
            <a:off x="7315200" y="475488"/>
            <a:ext cx="4297680" cy="411480"/>
          </a:xfrm>
          <a:prstGeom prst="rect">
            <a:avLst/>
          </a:prstGeom>
          <a:noFill/>
          <a:ln/>
        </p:spPr>
        <p:txBody>
          <a:bodyPr wrap="square" lIns="0" tIns="0" rIns="0" bIns="0" rtlCol="0" anchor="ctr"/>
          <a:lstStyle/>
          <a:p>
            <a:pPr rtl="1" algn="r" indent="0" marL="0">
              <a:buNone/>
            </a:pPr>
            <a:r>
              <a:rPr lang="en-US" sz="1800" dirty="0">
                <a:solidFill>
                  <a:srgbClr val="2E7D74"/>
                </a:solidFill>
                <a:latin typeface="Arial" pitchFamily="34" charset="0"/>
                <a:ea typeface="Arial" pitchFamily="34" charset="-122"/>
                <a:cs typeface="Arial" pitchFamily="34" charset="-120"/>
              </a:rPr>
              <a:t>الحلقة الرابعة — أين وصل المونتاج</a:t>
            </a:r>
            <a:endParaRPr lang="en-US" sz="1800" dirty="0"/>
          </a:p>
        </p:txBody>
      </p:sp>
      <p:sp>
        <p:nvSpPr>
          <p:cNvPr id="4" name="Text 2"/>
          <p:cNvSpPr txBox="1"/>
          <p:nvPr/>
        </p:nvSpPr>
        <p:spPr>
          <a:xfrm>
            <a:off x="548640" y="1371600"/>
            <a:ext cx="6035040" cy="1188720"/>
          </a:xfrm>
          <a:prstGeom prst="rect">
            <a:avLst/>
          </a:prstGeom>
          <a:noFill/>
          <a:ln/>
        </p:spPr>
        <p:txBody>
          <a:bodyPr wrap="square" lIns="0" tIns="0" rIns="0" bIns="0" rtlCol="0" anchor="ctr"/>
          <a:lstStyle/>
          <a:p>
            <a:pPr indent="0" marL="0">
              <a:lnSpc>
                <a:spcPts val="2200"/>
              </a:lnSpc>
              <a:buNone/>
            </a:pPr>
            <a:r>
              <a:rPr lang="en-US" sz="1400" b="1" dirty="0">
                <a:solidFill>
                  <a:srgbClr val="12171F"/>
                </a:solidFill>
                <a:latin typeface="Arial" pitchFamily="34" charset="0"/>
                <a:ea typeface="Arial" pitchFamily="34" charset="-122"/>
                <a:cs typeface="Arial" pitchFamily="34" charset="-120"/>
              </a:rPr>
              <a:t>The assembly runs eleven minutes long. </a:t>
            </a:r>
            <a:pPr indent="0" marL="0">
              <a:lnSpc>
                <a:spcPts val="2200"/>
              </a:lnSpc>
              <a:buNone/>
            </a:pPr>
            <a:r>
              <a:rPr lang="en-US" sz="1400" dirty="0">
                <a:solidFill>
                  <a:srgbClr val="12171F"/>
                </a:solidFill>
                <a:latin typeface="Arial" pitchFamily="34" charset="0"/>
                <a:ea typeface="Arial" pitchFamily="34" charset="-122"/>
                <a:cs typeface="Arial" pitchFamily="34" charset="-120"/>
              </a:rPr>
              <a:t>Most of that sits in the second act, where two interviews cover the same ground. Cutting Umm Sayed's kitchen scene to its last ninety seconds recovers about six minutes without touching the archive.</a:t>
            </a:r>
            <a:endParaRPr lang="en-US" sz="1400" dirty="0"/>
          </a:p>
        </p:txBody>
      </p:sp>
      <p:sp>
        <p:nvSpPr>
          <p:cNvPr id="5" name="Text 3"/>
          <p:cNvSpPr txBox="1"/>
          <p:nvPr/>
        </p:nvSpPr>
        <p:spPr>
          <a:xfrm>
            <a:off x="548640" y="2606040"/>
            <a:ext cx="6035040" cy="1005840"/>
          </a:xfrm>
          <a:prstGeom prst="rect">
            <a:avLst/>
          </a:prstGeom>
          <a:noFill/>
          <a:ln/>
        </p:spPr>
        <p:txBody>
          <a:bodyPr wrap="square" lIns="0" tIns="0" rIns="0" bIns="0" rtlCol="0" anchor="ctr"/>
          <a:lstStyle/>
          <a:p>
            <a:pPr rtl="1" algn="r" indent="0" marL="0">
              <a:lnSpc>
                <a:spcPts val="2400"/>
              </a:lnSpc>
              <a:buNone/>
            </a:pPr>
            <a:r>
              <a:rPr lang="en-US" sz="1400" dirty="0">
                <a:solidFill>
                  <a:srgbClr val="5B6470"/>
                </a:solidFill>
                <a:latin typeface="Arial" pitchFamily="34" charset="0"/>
                <a:ea typeface="Arial" pitchFamily="34" charset="-122"/>
                <a:cs typeface="Arial" pitchFamily="34" charset="-120"/>
              </a:rPr>
              <a:t>النسخة الأولية أطول من المطلوب بإحدى عشرة دقيقة، ومعظم الزيادة في الفصل الثاني حيث تتكرر المقابلتان. اختصار مشهد المطبخ يوفّر نحو ست دقائق دون المساس بمواد الأرشيف.</a:t>
            </a:r>
            <a:endParaRPr lang="en-US" sz="1400" dirty="0"/>
          </a:p>
        </p:txBody>
      </p:sp>
      <p:sp>
        <p:nvSpPr>
          <p:cNvPr id="6" name="Shape 4"/>
          <p:cNvSpPr/>
          <p:nvPr/>
        </p:nvSpPr>
        <p:spPr>
          <a:xfrm>
            <a:off x="576072" y="3895344"/>
            <a:ext cx="118872" cy="118872"/>
          </a:xfrm>
          <a:prstGeom prst="ellipse">
            <a:avLst/>
          </a:prstGeom>
          <a:solidFill>
            <a:srgbClr val="E8A33D"/>
          </a:solidFill>
          <a:ln/>
        </p:spPr>
      </p:sp>
      <p:sp>
        <p:nvSpPr>
          <p:cNvPr id="7" name="Text 5"/>
          <p:cNvSpPr txBox="1"/>
          <p:nvPr/>
        </p:nvSpPr>
        <p:spPr>
          <a:xfrm>
            <a:off x="868680" y="3794760"/>
            <a:ext cx="3657600" cy="329184"/>
          </a:xfrm>
          <a:prstGeom prst="rect">
            <a:avLst/>
          </a:prstGeom>
          <a:noFill/>
          <a:ln/>
        </p:spPr>
        <p:txBody>
          <a:bodyPr wrap="square" lIns="0" tIns="0" rIns="0" bIns="0" rtlCol="0" anchor="ctr"/>
          <a:lstStyle/>
          <a:p>
            <a:pPr indent="0" marL="0">
              <a:buNone/>
            </a:pPr>
            <a:r>
              <a:rPr lang="en-US" sz="1250" dirty="0">
                <a:solidFill>
                  <a:srgbClr val="12171F"/>
                </a:solidFill>
                <a:latin typeface="Arial" pitchFamily="34" charset="0"/>
                <a:ea typeface="Arial" pitchFamily="34" charset="-122"/>
                <a:cs typeface="Arial" pitchFamily="34" charset="-120"/>
              </a:rPr>
              <a:t>Trim the kitchen interview to 90 seconds</a:t>
            </a:r>
            <a:endParaRPr lang="en-US" sz="1250" dirty="0"/>
          </a:p>
        </p:txBody>
      </p:sp>
      <p:sp>
        <p:nvSpPr>
          <p:cNvPr id="8" name="Text 6"/>
          <p:cNvSpPr txBox="1"/>
          <p:nvPr/>
        </p:nvSpPr>
        <p:spPr>
          <a:xfrm>
            <a:off x="4572000" y="3794760"/>
            <a:ext cx="2011680" cy="329184"/>
          </a:xfrm>
          <a:prstGeom prst="rect">
            <a:avLst/>
          </a:prstGeom>
          <a:noFill/>
          <a:ln/>
        </p:spPr>
        <p:txBody>
          <a:bodyPr wrap="square" lIns="0" tIns="0" rIns="0" bIns="0" rtlCol="0" anchor="ctr"/>
          <a:lstStyle/>
          <a:p>
            <a:pPr rtl="1" algn="r" indent="0" marL="0">
              <a:buNone/>
            </a:pPr>
            <a:r>
              <a:rPr lang="en-US" sz="1200" dirty="0">
                <a:solidFill>
                  <a:srgbClr val="5B6470"/>
                </a:solidFill>
                <a:latin typeface="Arial" pitchFamily="34" charset="0"/>
                <a:ea typeface="Arial" pitchFamily="34" charset="-122"/>
                <a:cs typeface="Arial" pitchFamily="34" charset="-120"/>
              </a:rPr>
              <a:t>اختصار مقابلة المطبخ</a:t>
            </a:r>
            <a:endParaRPr lang="en-US" sz="1200" dirty="0"/>
          </a:p>
        </p:txBody>
      </p:sp>
      <p:sp>
        <p:nvSpPr>
          <p:cNvPr id="9" name="Shape 7"/>
          <p:cNvSpPr/>
          <p:nvPr/>
        </p:nvSpPr>
        <p:spPr>
          <a:xfrm>
            <a:off x="576072" y="4553712"/>
            <a:ext cx="118872" cy="118872"/>
          </a:xfrm>
          <a:prstGeom prst="ellipse">
            <a:avLst/>
          </a:prstGeom>
          <a:solidFill>
            <a:srgbClr val="E8A33D"/>
          </a:solidFill>
          <a:ln/>
        </p:spPr>
      </p:sp>
      <p:sp>
        <p:nvSpPr>
          <p:cNvPr id="10" name="Text 8"/>
          <p:cNvSpPr txBox="1"/>
          <p:nvPr/>
        </p:nvSpPr>
        <p:spPr>
          <a:xfrm>
            <a:off x="868680" y="4453128"/>
            <a:ext cx="3657600" cy="329184"/>
          </a:xfrm>
          <a:prstGeom prst="rect">
            <a:avLst/>
          </a:prstGeom>
          <a:noFill/>
          <a:ln/>
        </p:spPr>
        <p:txBody>
          <a:bodyPr wrap="square" lIns="0" tIns="0" rIns="0" bIns="0" rtlCol="0" anchor="ctr"/>
          <a:lstStyle/>
          <a:p>
            <a:pPr indent="0" marL="0">
              <a:buNone/>
            </a:pPr>
            <a:r>
              <a:rPr lang="en-US" sz="1250" dirty="0">
                <a:solidFill>
                  <a:srgbClr val="12171F"/>
                </a:solidFill>
                <a:latin typeface="Arial" pitchFamily="34" charset="0"/>
                <a:ea typeface="Arial" pitchFamily="34" charset="-122"/>
                <a:cs typeface="Arial" pitchFamily="34" charset="-120"/>
              </a:rPr>
              <a:t>Drop the second drone pass entirely</a:t>
            </a:r>
            <a:endParaRPr lang="en-US" sz="1250" dirty="0"/>
          </a:p>
        </p:txBody>
      </p:sp>
      <p:sp>
        <p:nvSpPr>
          <p:cNvPr id="11" name="Text 9"/>
          <p:cNvSpPr txBox="1"/>
          <p:nvPr/>
        </p:nvSpPr>
        <p:spPr>
          <a:xfrm>
            <a:off x="4572000" y="4453128"/>
            <a:ext cx="2011680" cy="329184"/>
          </a:xfrm>
          <a:prstGeom prst="rect">
            <a:avLst/>
          </a:prstGeom>
          <a:noFill/>
          <a:ln/>
        </p:spPr>
        <p:txBody>
          <a:bodyPr wrap="square" lIns="0" tIns="0" rIns="0" bIns="0" rtlCol="0" anchor="ctr"/>
          <a:lstStyle/>
          <a:p>
            <a:pPr rtl="1" algn="r" indent="0" marL="0">
              <a:buNone/>
            </a:pPr>
            <a:r>
              <a:rPr lang="en-US" sz="1200" dirty="0">
                <a:solidFill>
                  <a:srgbClr val="5B6470"/>
                </a:solidFill>
                <a:latin typeface="Arial" pitchFamily="34" charset="0"/>
                <a:ea typeface="Arial" pitchFamily="34" charset="-122"/>
                <a:cs typeface="Arial" pitchFamily="34" charset="-120"/>
              </a:rPr>
              <a:t>حذف لقطة الدرون الثانية</a:t>
            </a:r>
            <a:endParaRPr lang="en-US" sz="1200" dirty="0"/>
          </a:p>
        </p:txBody>
      </p:sp>
      <p:sp>
        <p:nvSpPr>
          <p:cNvPr id="12" name="Shape 10"/>
          <p:cNvSpPr/>
          <p:nvPr/>
        </p:nvSpPr>
        <p:spPr>
          <a:xfrm>
            <a:off x="576072" y="5212080"/>
            <a:ext cx="118872" cy="118872"/>
          </a:xfrm>
          <a:prstGeom prst="ellipse">
            <a:avLst/>
          </a:prstGeom>
          <a:solidFill>
            <a:srgbClr val="E8A33D"/>
          </a:solidFill>
          <a:ln/>
        </p:spPr>
      </p:sp>
      <p:sp>
        <p:nvSpPr>
          <p:cNvPr id="13" name="Text 11"/>
          <p:cNvSpPr txBox="1"/>
          <p:nvPr/>
        </p:nvSpPr>
        <p:spPr>
          <a:xfrm>
            <a:off x="868680" y="5111496"/>
            <a:ext cx="3657600" cy="329184"/>
          </a:xfrm>
          <a:prstGeom prst="rect">
            <a:avLst/>
          </a:prstGeom>
          <a:noFill/>
          <a:ln/>
        </p:spPr>
        <p:txBody>
          <a:bodyPr wrap="square" lIns="0" tIns="0" rIns="0" bIns="0" rtlCol="0" anchor="ctr"/>
          <a:lstStyle/>
          <a:p>
            <a:pPr indent="0" marL="0">
              <a:buNone/>
            </a:pPr>
            <a:r>
              <a:rPr lang="en-US" sz="1250" dirty="0">
                <a:solidFill>
                  <a:srgbClr val="12171F"/>
                </a:solidFill>
                <a:latin typeface="Arial" pitchFamily="34" charset="0"/>
                <a:ea typeface="Arial" pitchFamily="34" charset="-122"/>
                <a:cs typeface="Arial" pitchFamily="34" charset="-120"/>
              </a:rPr>
              <a:t>Keep the 1974 reel — it earns its 55 seconds</a:t>
            </a:r>
            <a:endParaRPr lang="en-US" sz="1250" dirty="0"/>
          </a:p>
        </p:txBody>
      </p:sp>
      <p:sp>
        <p:nvSpPr>
          <p:cNvPr id="14" name="Text 12"/>
          <p:cNvSpPr txBox="1"/>
          <p:nvPr/>
        </p:nvSpPr>
        <p:spPr>
          <a:xfrm>
            <a:off x="4572000" y="5111496"/>
            <a:ext cx="2011680" cy="329184"/>
          </a:xfrm>
          <a:prstGeom prst="rect">
            <a:avLst/>
          </a:prstGeom>
          <a:noFill/>
          <a:ln/>
        </p:spPr>
        <p:txBody>
          <a:bodyPr wrap="square" lIns="0" tIns="0" rIns="0" bIns="0" rtlCol="0" anchor="ctr"/>
          <a:lstStyle/>
          <a:p>
            <a:pPr rtl="1" algn="r" indent="0" marL="0">
              <a:buNone/>
            </a:pPr>
            <a:r>
              <a:rPr lang="en-US" sz="1200" dirty="0">
                <a:solidFill>
                  <a:srgbClr val="5B6470"/>
                </a:solidFill>
                <a:latin typeface="Arial" pitchFamily="34" charset="0"/>
                <a:ea typeface="Arial" pitchFamily="34" charset="-122"/>
                <a:cs typeface="Arial" pitchFamily="34" charset="-120"/>
              </a:rPr>
              <a:t>الإبقاء على شريط ١٩٧٤</a:t>
            </a:r>
            <a:endParaRPr lang="en-US" sz="1200" dirty="0"/>
          </a:p>
        </p:txBody>
      </p:sp>
      <p:pic>
        <p:nvPicPr>
          <p:cNvPr id="15" name="Image 0" descr="preencoded.png">    </p:cNvPr>
          <p:cNvPicPr>
            <a:picLocks noChangeAspect="1"/>
          </p:cNvPicPr>
          <p:nvPr/>
        </p:nvPicPr>
        <p:blipFill>
          <a:blip r:embed="rId1"/>
          <a:stretch>
            <a:fillRect/>
          </a:stretch>
        </p:blipFill>
        <p:spPr>
          <a:xfrm>
            <a:off x="6949440" y="1371600"/>
            <a:ext cx="4663440" cy="2624328"/>
          </a:xfrm>
          <a:prstGeom prst="rect">
            <a:avLst/>
          </a:prstGeom>
          <a:effectLst>
            <a:outerShdw sx="100000" sy="100000" kx="0" ky="0" algn="bl" rotWithShape="0" blurRad="152400" dist="38100" dir="5400000">
              <a:srgbClr val="000000">
                <a:alpha val="28000"/>
              </a:srgbClr>
            </a:outerShdw>
          </a:effectLst>
        </p:spPr>
      </p:pic>
      <p:sp>
        <p:nvSpPr>
          <p:cNvPr id="16" name="Text 13"/>
          <p:cNvSpPr txBox="1"/>
          <p:nvPr/>
        </p:nvSpPr>
        <p:spPr>
          <a:xfrm>
            <a:off x="6949440" y="4069080"/>
            <a:ext cx="4663440" cy="274320"/>
          </a:xfrm>
          <a:prstGeom prst="rect">
            <a:avLst/>
          </a:prstGeom>
          <a:noFill/>
          <a:ln/>
        </p:spPr>
        <p:txBody>
          <a:bodyPr wrap="square" lIns="0" tIns="0" rIns="0" bIns="0" rtlCol="0" anchor="ctr"/>
          <a:lstStyle/>
          <a:p>
            <a:pPr indent="0" marL="0">
              <a:buNone/>
            </a:pPr>
            <a:r>
              <a:rPr lang="en-US" sz="1000" i="1" dirty="0">
                <a:solidFill>
                  <a:srgbClr val="5B6470"/>
                </a:solidFill>
                <a:latin typeface="Arial" pitchFamily="34" charset="0"/>
                <a:ea typeface="Arial" pitchFamily="34" charset="-122"/>
                <a:cs typeface="Arial" pitchFamily="34" charset="-120"/>
              </a:rPr>
              <a:t>Shot 05 — ferry crossing, graded  ·  اللقطة ٠٥ بعد التصحيح</a:t>
            </a:r>
            <a:endParaRPr lang="en-US" sz="1000" dirty="0"/>
          </a:p>
        </p:txBody>
      </p:sp>
      <p:sp>
        <p:nvSpPr>
          <p:cNvPr id="17" name="Shape 14"/>
          <p:cNvSpPr/>
          <p:nvPr/>
        </p:nvSpPr>
        <p:spPr>
          <a:xfrm>
            <a:off x="6949440" y="4526280"/>
            <a:ext cx="4663440" cy="1417320"/>
          </a:xfrm>
          <a:prstGeom prst="roundRect">
            <a:avLst>
              <a:gd name="adj" fmla="val 3871"/>
            </a:avLst>
          </a:prstGeom>
          <a:solidFill>
            <a:srgbClr val="12171F"/>
          </a:solidFill>
          <a:ln/>
        </p:spPr>
      </p:sp>
      <p:sp>
        <p:nvSpPr>
          <p:cNvPr id="18" name="Text 15"/>
          <p:cNvSpPr txBox="1"/>
          <p:nvPr/>
        </p:nvSpPr>
        <p:spPr>
          <a:xfrm>
            <a:off x="7223760" y="4709160"/>
            <a:ext cx="173736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11:04</a:t>
            </a:r>
            <a:endParaRPr lang="en-US" sz="4000" dirty="0"/>
          </a:p>
        </p:txBody>
      </p:sp>
      <p:sp>
        <p:nvSpPr>
          <p:cNvPr id="19" name="Text 16"/>
          <p:cNvSpPr txBox="1"/>
          <p:nvPr/>
        </p:nvSpPr>
        <p:spPr>
          <a:xfrm>
            <a:off x="9006840" y="4709160"/>
            <a:ext cx="2377440" cy="822960"/>
          </a:xfrm>
          <a:prstGeom prst="rect">
            <a:avLst/>
          </a:prstGeom>
          <a:noFill/>
          <a:ln/>
        </p:spPr>
        <p:txBody>
          <a:bodyPr wrap="square" lIns="0" tIns="0" rIns="0" bIns="0" rtlCol="0" anchor="ctr"/>
          <a:lstStyle/>
          <a:p>
            <a:pPr indent="0" marL="0">
              <a:lnSpc>
                <a:spcPts val="1800"/>
              </a:lnSpc>
              <a:buNone/>
            </a:pPr>
            <a:r>
              <a:rPr lang="en-US" sz="1200" dirty="0">
                <a:solidFill>
                  <a:srgbClr val="F4F1EC"/>
                </a:solidFill>
                <a:latin typeface="Arial" pitchFamily="34" charset="0"/>
                <a:ea typeface="Arial" pitchFamily="34" charset="-122"/>
                <a:cs typeface="Arial" pitchFamily="34" charset="-120"/>
              </a:rPr>
              <a:t>over target runtime</a:t>
            </a:r>
            <a:pPr indent="0" marL="0">
              <a:lnSpc>
                <a:spcPts val="1800"/>
              </a:lnSpc>
              <a:buNone/>
            </a:pPr>
            <a:endParaRPr lang="en-US" sz="1200" dirty="0"/>
          </a:p>
          <a:p>
            <a:pPr indent="0" marL="0">
              <a:lnSpc>
                <a:spcPts val="1800"/>
              </a:lnSpc>
              <a:buNone/>
            </a:pPr>
            <a:r>
              <a:rPr lang="en-US" sz="1200" dirty="0">
                <a:solidFill>
                  <a:srgbClr val="9AA1AB"/>
                </a:solidFill>
                <a:latin typeface="Arial" pitchFamily="34" charset="0"/>
                <a:ea typeface="Arial" pitchFamily="34" charset="-122"/>
                <a:cs typeface="Arial" pitchFamily="34" charset="-120"/>
              </a:rPr>
              <a:t>زيادة عن الزمن المطلوب</a:t>
            </a:r>
            <a:endParaRPr lang="en-US" sz="1200" dirty="0"/>
          </a:p>
        </p:txBody>
      </p:sp>
      <p:sp>
        <p:nvSpPr>
          <p:cNvPr id="20" name="Text 17"/>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900" dirty="0">
                <a:solidFill>
                  <a:srgbClr val="9AA1AB"/>
                </a:solidFill>
                <a:latin typeface="Arial" pitchFamily="34" charset="0"/>
                <a:ea typeface="Arial" pitchFamily="34" charset="-122"/>
                <a:cs typeface="Arial" pitchFamily="34" charset="-120"/>
              </a:rPr>
              <a:t>Nile Frame Studio  ·  استوديو نايل فريم</a:t>
            </a:r>
            <a:endParaRPr lang="en-US" sz="900" dirty="0"/>
          </a:p>
        </p:txBody>
      </p:sp>
      <p:sp>
        <p:nvSpPr>
          <p:cNvPr id="21" name="Text 18"/>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00" dirty="0">
                <a:solidFill>
                  <a:srgbClr val="9AA1A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863840" cy="502920"/>
          </a:xfrm>
          <a:prstGeom prst="rect">
            <a:avLst/>
          </a:prstGeom>
          <a:noFill/>
          <a:ln/>
        </p:spPr>
        <p:txBody>
          <a:bodyPr wrap="square" lIns="0" tIns="0" rIns="0" bIns="0" rtlCol="0" anchor="ctr"/>
          <a:lstStyle/>
          <a:p>
            <a:pPr indent="0" marL="0">
              <a:buNone/>
            </a:pPr>
            <a:r>
              <a:rPr lang="en-US" sz="3200" b="1" dirty="0">
                <a:solidFill>
                  <a:srgbClr val="12171F"/>
                </a:solidFill>
                <a:latin typeface="Cambria" pitchFamily="34" charset="0"/>
                <a:ea typeface="Cambria" pitchFamily="34" charset="-122"/>
                <a:cs typeface="Cambria" pitchFamily="34" charset="-120"/>
              </a:rPr>
              <a:t>Hours logged against plan</a:t>
            </a:r>
            <a:endParaRPr lang="en-US" sz="3200" dirty="0"/>
          </a:p>
        </p:txBody>
      </p:sp>
      <p:sp>
        <p:nvSpPr>
          <p:cNvPr id="3" name="Text 1"/>
          <p:cNvSpPr txBox="1"/>
          <p:nvPr/>
        </p:nvSpPr>
        <p:spPr>
          <a:xfrm>
            <a:off x="7315200" y="475488"/>
            <a:ext cx="4297680" cy="411480"/>
          </a:xfrm>
          <a:prstGeom prst="rect">
            <a:avLst/>
          </a:prstGeom>
          <a:noFill/>
          <a:ln/>
        </p:spPr>
        <p:txBody>
          <a:bodyPr wrap="square" lIns="0" tIns="0" rIns="0" bIns="0" rtlCol="0" anchor="ctr"/>
          <a:lstStyle/>
          <a:p>
            <a:pPr rtl="1" algn="r" indent="0" marL="0">
              <a:buNone/>
            </a:pPr>
            <a:r>
              <a:rPr lang="en-US" sz="1800" dirty="0">
                <a:solidFill>
                  <a:srgbClr val="2E7D74"/>
                </a:solidFill>
                <a:latin typeface="Arial" pitchFamily="34" charset="0"/>
                <a:ea typeface="Arial" pitchFamily="34" charset="-122"/>
                <a:cs typeface="Arial" pitchFamily="34" charset="-120"/>
              </a:rPr>
              <a:t>الساعات المسجلة مقابل الخطة</a:t>
            </a:r>
            <a:endParaRPr lang="en-US" sz="1800" dirty="0"/>
          </a:p>
        </p:txBody>
      </p:sp>
      <p:graphicFrame>
        <p:nvGraphicFramePr>
          <p:cNvPr id="4" name="Chart 0" descr=""/>
          <p:cNvGraphicFramePr/>
          <p:nvPr/>
        </p:nvGraphicFramePr>
        <p:xfrm>
          <a:off x="548640" y="13258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325880"/>
            <a:ext cx="3657600" cy="1298448"/>
          </a:xfrm>
          <a:prstGeom prst="roundRect">
            <a:avLst>
              <a:gd name="adj" fmla="val 4225"/>
            </a:avLst>
          </a:prstGeom>
          <a:solidFill>
            <a:srgbClr val="F4F1EC"/>
          </a:solidFill>
          <a:ln/>
        </p:spPr>
      </p:sp>
      <p:sp>
        <p:nvSpPr>
          <p:cNvPr id="6" name="Text 3"/>
          <p:cNvSpPr txBox="1"/>
          <p:nvPr/>
        </p:nvSpPr>
        <p:spPr>
          <a:xfrm>
            <a:off x="8183880" y="1472184"/>
            <a:ext cx="1600200" cy="548640"/>
          </a:xfrm>
          <a:prstGeom prst="rect">
            <a:avLst/>
          </a:prstGeom>
          <a:noFill/>
          <a:ln/>
        </p:spPr>
        <p:txBody>
          <a:bodyPr wrap="square" lIns="0" tIns="0" rIns="0" bIns="0" rtlCol="0" anchor="ctr"/>
          <a:lstStyle/>
          <a:p>
            <a:pPr indent="0" marL="0">
              <a:buNone/>
            </a:pPr>
            <a:r>
              <a:rPr lang="en-US" sz="3000" b="1" dirty="0">
                <a:solidFill>
                  <a:srgbClr val="12171F"/>
                </a:solidFill>
                <a:latin typeface="Cambria" pitchFamily="34" charset="0"/>
                <a:ea typeface="Cambria" pitchFamily="34" charset="-122"/>
                <a:cs typeface="Cambria" pitchFamily="34" charset="-120"/>
              </a:rPr>
              <a:t>74</a:t>
            </a:r>
            <a:endParaRPr lang="en-US" sz="3000" dirty="0"/>
          </a:p>
        </p:txBody>
      </p:sp>
      <p:sp>
        <p:nvSpPr>
          <p:cNvPr id="7" name="Text 4"/>
          <p:cNvSpPr txBox="1"/>
          <p:nvPr/>
        </p:nvSpPr>
        <p:spPr>
          <a:xfrm>
            <a:off x="9784080" y="1508760"/>
            <a:ext cx="1691640" cy="3200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hours logged so far</a:t>
            </a:r>
            <a:endParaRPr lang="en-US" sz="1100" dirty="0"/>
          </a:p>
        </p:txBody>
      </p:sp>
      <p:sp>
        <p:nvSpPr>
          <p:cNvPr id="8" name="Text 5"/>
          <p:cNvSpPr txBox="1"/>
          <p:nvPr/>
        </p:nvSpPr>
        <p:spPr>
          <a:xfrm>
            <a:off x="8183880" y="2103120"/>
            <a:ext cx="3200400" cy="365760"/>
          </a:xfrm>
          <a:prstGeom prst="rect">
            <a:avLst/>
          </a:prstGeom>
          <a:noFill/>
          <a:ln/>
        </p:spPr>
        <p:txBody>
          <a:bodyPr wrap="square" lIns="0" tIns="0" rIns="0" bIns="0" rtlCol="0" anchor="ctr"/>
          <a:lstStyle/>
          <a:p>
            <a:pPr rtl="1" algn="r" indent="0" marL="0">
              <a:buNone/>
            </a:pPr>
            <a:r>
              <a:rPr lang="en-US" sz="1200" dirty="0">
                <a:solidFill>
                  <a:srgbClr val="2E7D74"/>
                </a:solidFill>
                <a:latin typeface="Arial" pitchFamily="34" charset="0"/>
                <a:ea typeface="Arial" pitchFamily="34" charset="-122"/>
                <a:cs typeface="Arial" pitchFamily="34" charset="-120"/>
              </a:rPr>
              <a:t>ساعة مونتاج مسجلة حتى الآن</a:t>
            </a:r>
            <a:endParaRPr lang="en-US" sz="1200" dirty="0"/>
          </a:p>
        </p:txBody>
      </p:sp>
      <p:sp>
        <p:nvSpPr>
          <p:cNvPr id="9" name="Shape 6"/>
          <p:cNvSpPr/>
          <p:nvPr/>
        </p:nvSpPr>
        <p:spPr>
          <a:xfrm>
            <a:off x="7955280" y="2862072"/>
            <a:ext cx="3657600" cy="1298448"/>
          </a:xfrm>
          <a:prstGeom prst="roundRect">
            <a:avLst>
              <a:gd name="adj" fmla="val 4225"/>
            </a:avLst>
          </a:prstGeom>
          <a:solidFill>
            <a:srgbClr val="F4F1EC"/>
          </a:solidFill>
          <a:ln/>
        </p:spPr>
      </p:sp>
      <p:sp>
        <p:nvSpPr>
          <p:cNvPr id="10" name="Text 7"/>
          <p:cNvSpPr txBox="1"/>
          <p:nvPr/>
        </p:nvSpPr>
        <p:spPr>
          <a:xfrm>
            <a:off x="8183880" y="3008376"/>
            <a:ext cx="1600200" cy="548640"/>
          </a:xfrm>
          <a:prstGeom prst="rect">
            <a:avLst/>
          </a:prstGeom>
          <a:noFill/>
          <a:ln/>
        </p:spPr>
        <p:txBody>
          <a:bodyPr wrap="square" lIns="0" tIns="0" rIns="0" bIns="0" rtlCol="0" anchor="ctr"/>
          <a:lstStyle/>
          <a:p>
            <a:pPr indent="0" marL="0">
              <a:buNone/>
            </a:pPr>
            <a:r>
              <a:rPr lang="en-US" sz="3000" b="1" dirty="0">
                <a:solidFill>
                  <a:srgbClr val="12171F"/>
                </a:solidFill>
                <a:latin typeface="Cambria" pitchFamily="34" charset="0"/>
                <a:ea typeface="Cambria" pitchFamily="34" charset="-122"/>
                <a:cs typeface="Cambria" pitchFamily="34" charset="-120"/>
              </a:rPr>
              <a:t>2 / 12</a:t>
            </a:r>
            <a:endParaRPr lang="en-US" sz="3000" dirty="0"/>
          </a:p>
        </p:txBody>
      </p:sp>
      <p:sp>
        <p:nvSpPr>
          <p:cNvPr id="11" name="Text 8"/>
          <p:cNvSpPr txBox="1"/>
          <p:nvPr/>
        </p:nvSpPr>
        <p:spPr>
          <a:xfrm>
            <a:off x="9784080" y="3044952"/>
            <a:ext cx="1691640" cy="3200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shots locked</a:t>
            </a:r>
            <a:endParaRPr lang="en-US" sz="1100" dirty="0"/>
          </a:p>
        </p:txBody>
      </p:sp>
      <p:sp>
        <p:nvSpPr>
          <p:cNvPr id="12" name="Text 9"/>
          <p:cNvSpPr txBox="1"/>
          <p:nvPr/>
        </p:nvSpPr>
        <p:spPr>
          <a:xfrm>
            <a:off x="8183880" y="3639312"/>
            <a:ext cx="3200400" cy="365760"/>
          </a:xfrm>
          <a:prstGeom prst="rect">
            <a:avLst/>
          </a:prstGeom>
          <a:noFill/>
          <a:ln/>
        </p:spPr>
        <p:txBody>
          <a:bodyPr wrap="square" lIns="0" tIns="0" rIns="0" bIns="0" rtlCol="0" anchor="ctr"/>
          <a:lstStyle/>
          <a:p>
            <a:pPr rtl="1" algn="r" indent="0" marL="0">
              <a:buNone/>
            </a:pPr>
            <a:r>
              <a:rPr lang="en-US" sz="1200" dirty="0">
                <a:solidFill>
                  <a:srgbClr val="2E7D74"/>
                </a:solidFill>
                <a:latin typeface="Arial" pitchFamily="34" charset="0"/>
                <a:ea typeface="Arial" pitchFamily="34" charset="-122"/>
                <a:cs typeface="Arial" pitchFamily="34" charset="-120"/>
              </a:rPr>
              <a:t>لقطتان مثبتتان</a:t>
            </a:r>
            <a:endParaRPr lang="en-US" sz="1200" dirty="0"/>
          </a:p>
        </p:txBody>
      </p:sp>
      <p:sp>
        <p:nvSpPr>
          <p:cNvPr id="13" name="Shape 10"/>
          <p:cNvSpPr/>
          <p:nvPr/>
        </p:nvSpPr>
        <p:spPr>
          <a:xfrm>
            <a:off x="7955280" y="4398264"/>
            <a:ext cx="3657600" cy="1298448"/>
          </a:xfrm>
          <a:prstGeom prst="roundRect">
            <a:avLst>
              <a:gd name="adj" fmla="val 4225"/>
            </a:avLst>
          </a:prstGeom>
          <a:solidFill>
            <a:srgbClr val="F6D9D2"/>
          </a:solidFill>
          <a:ln/>
        </p:spPr>
      </p:sp>
      <p:sp>
        <p:nvSpPr>
          <p:cNvPr id="14" name="Text 11"/>
          <p:cNvSpPr txBox="1"/>
          <p:nvPr/>
        </p:nvSpPr>
        <p:spPr>
          <a:xfrm>
            <a:off x="8183880" y="4544568"/>
            <a:ext cx="1600200" cy="548640"/>
          </a:xfrm>
          <a:prstGeom prst="rect">
            <a:avLst/>
          </a:prstGeom>
          <a:noFill/>
          <a:ln/>
        </p:spPr>
        <p:txBody>
          <a:bodyPr wrap="square" lIns="0" tIns="0" rIns="0" bIns="0" rtlCol="0" anchor="ctr"/>
          <a:lstStyle/>
          <a:p>
            <a:pPr indent="0" marL="0">
              <a:buNone/>
            </a:pPr>
            <a:r>
              <a:rPr lang="en-US" sz="3000" b="1" dirty="0">
                <a:solidFill>
                  <a:srgbClr val="B24830"/>
                </a:solidFill>
                <a:latin typeface="Cambria" pitchFamily="34" charset="0"/>
                <a:ea typeface="Cambria" pitchFamily="34" charset="-122"/>
                <a:cs typeface="Cambria" pitchFamily="34" charset="-120"/>
              </a:rPr>
              <a:t>1</a:t>
            </a:r>
            <a:endParaRPr lang="en-US" sz="3000" dirty="0"/>
          </a:p>
        </p:txBody>
      </p:sp>
      <p:sp>
        <p:nvSpPr>
          <p:cNvPr id="15" name="Text 12"/>
          <p:cNvSpPr txBox="1"/>
          <p:nvPr/>
        </p:nvSpPr>
        <p:spPr>
          <a:xfrm>
            <a:off x="9784080" y="4581144"/>
            <a:ext cx="1691640" cy="320040"/>
          </a:xfrm>
          <a:prstGeom prst="rect">
            <a:avLst/>
          </a:prstGeom>
          <a:noFill/>
          <a:ln/>
        </p:spPr>
        <p:txBody>
          <a:bodyPr wrap="square" lIns="0" tIns="0" rIns="0" bIns="0" rtlCol="0" anchor="ctr"/>
          <a:lstStyle/>
          <a:p>
            <a:pPr indent="0" marL="0">
              <a:buNone/>
            </a:pPr>
            <a:r>
              <a:rPr lang="en-US" sz="1100" dirty="0">
                <a:solidFill>
                  <a:srgbClr val="5B6470"/>
                </a:solidFill>
                <a:latin typeface="Arial" pitchFamily="34" charset="0"/>
                <a:ea typeface="Arial" pitchFamily="34" charset="-122"/>
                <a:cs typeface="Arial" pitchFamily="34" charset="-120"/>
              </a:rPr>
              <a:t>shot blocked</a:t>
            </a:r>
            <a:endParaRPr lang="en-US" sz="1100" dirty="0"/>
          </a:p>
        </p:txBody>
      </p:sp>
      <p:sp>
        <p:nvSpPr>
          <p:cNvPr id="16" name="Text 13"/>
          <p:cNvSpPr txBox="1"/>
          <p:nvPr/>
        </p:nvSpPr>
        <p:spPr>
          <a:xfrm>
            <a:off x="8183880" y="5175504"/>
            <a:ext cx="3200400" cy="365760"/>
          </a:xfrm>
          <a:prstGeom prst="rect">
            <a:avLst/>
          </a:prstGeom>
          <a:noFill/>
          <a:ln/>
        </p:spPr>
        <p:txBody>
          <a:bodyPr wrap="square" lIns="0" tIns="0" rIns="0" bIns="0" rtlCol="0" anchor="ctr"/>
          <a:lstStyle/>
          <a:p>
            <a:pPr rtl="1" algn="r" indent="0" marL="0">
              <a:buNone/>
            </a:pPr>
            <a:r>
              <a:rPr lang="en-US" sz="1200" dirty="0">
                <a:solidFill>
                  <a:srgbClr val="B24830"/>
                </a:solidFill>
                <a:latin typeface="Arial" pitchFamily="34" charset="0"/>
                <a:ea typeface="Arial" pitchFamily="34" charset="-122"/>
                <a:cs typeface="Arial" pitchFamily="34" charset="-120"/>
              </a:rPr>
              <a:t>لقطة متعثرة</a:t>
            </a:r>
            <a:endParaRPr lang="en-US" sz="1200" dirty="0"/>
          </a:p>
        </p:txBody>
      </p:sp>
      <p:sp>
        <p:nvSpPr>
          <p:cNvPr id="17" name="Text 14"/>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900" dirty="0">
                <a:solidFill>
                  <a:srgbClr val="9AA1AB"/>
                </a:solidFill>
                <a:latin typeface="Arial" pitchFamily="34" charset="0"/>
                <a:ea typeface="Arial" pitchFamily="34" charset="-122"/>
                <a:cs typeface="Arial" pitchFamily="34" charset="-120"/>
              </a:rPr>
              <a:t>Nile Frame Studio  ·  استوديو نايل فريم</a:t>
            </a:r>
            <a:endParaRPr lang="en-US" sz="900" dirty="0"/>
          </a:p>
        </p:txBody>
      </p:sp>
      <p:sp>
        <p:nvSpPr>
          <p:cNvPr id="18" name="Text 1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00" dirty="0">
                <a:solidFill>
                  <a:srgbClr val="9AA1A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863840" cy="502920"/>
          </a:xfrm>
          <a:prstGeom prst="rect">
            <a:avLst/>
          </a:prstGeom>
          <a:noFill/>
          <a:ln/>
        </p:spPr>
        <p:txBody>
          <a:bodyPr wrap="square" lIns="0" tIns="0" rIns="0" bIns="0" rtlCol="0" anchor="ctr"/>
          <a:lstStyle/>
          <a:p>
            <a:pPr indent="0" marL="0">
              <a:buNone/>
            </a:pPr>
            <a:r>
              <a:rPr lang="en-US" sz="3200" b="1" dirty="0">
                <a:solidFill>
                  <a:srgbClr val="12171F"/>
                </a:solidFill>
                <a:latin typeface="Cambria" pitchFamily="34" charset="0"/>
                <a:ea typeface="Cambria" pitchFamily="34" charset="-122"/>
                <a:cs typeface="Cambria" pitchFamily="34" charset="-120"/>
              </a:rPr>
              <a:t>Delivery specification</a:t>
            </a:r>
            <a:endParaRPr lang="en-US" sz="3200" dirty="0"/>
          </a:p>
        </p:txBody>
      </p:sp>
      <p:sp>
        <p:nvSpPr>
          <p:cNvPr id="3" name="Text 1"/>
          <p:cNvSpPr txBox="1"/>
          <p:nvPr/>
        </p:nvSpPr>
        <p:spPr>
          <a:xfrm>
            <a:off x="7315200" y="475488"/>
            <a:ext cx="4297680" cy="411480"/>
          </a:xfrm>
          <a:prstGeom prst="rect">
            <a:avLst/>
          </a:prstGeom>
          <a:noFill/>
          <a:ln/>
        </p:spPr>
        <p:txBody>
          <a:bodyPr wrap="square" lIns="0" tIns="0" rIns="0" bIns="0" rtlCol="0" anchor="ctr"/>
          <a:lstStyle/>
          <a:p>
            <a:pPr rtl="1" algn="r" indent="0" marL="0">
              <a:buNone/>
            </a:pPr>
            <a:r>
              <a:rPr lang="en-US" sz="1800" dirty="0">
                <a:solidFill>
                  <a:srgbClr val="2E7D74"/>
                </a:solidFill>
                <a:latin typeface="Arial" pitchFamily="34" charset="0"/>
                <a:ea typeface="Arial" pitchFamily="34" charset="-122"/>
                <a:cs typeface="Arial" pitchFamily="34" charset="-120"/>
              </a:rPr>
              <a:t>مواصفات التسليم</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926080"/>
                <a:gridCol w="2926080"/>
                <a:gridCol w="2834640"/>
              </a:tblGrid>
              <a:tr h="47548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Parameter / المعيار</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12171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Broadcast master</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12171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Web cut</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12171F"/>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Notes / ملاحظات</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12171F"/>
                    </a:solidFill>
                  </a:tcPr>
                </a:tc>
              </a:tr>
              <a:tr h="475488">
                <a:tc>
                  <a:txBody>
                    <a:bodyPr/>
                    <a:lstStyle/>
                    <a:p>
                      <a:pPr indent="0" marL="0">
                        <a:buNone/>
                      </a:pPr>
                      <a:r>
                        <a:rPr lang="en-US" sz="1200" b="1" dirty="0">
                          <a:solidFill>
                            <a:srgbClr val="12171F"/>
                          </a:solidFill>
                          <a:latin typeface="Arial" pitchFamily="34" charset="0"/>
                          <a:ea typeface="Arial" pitchFamily="34" charset="-122"/>
                          <a:cs typeface="Arial" pitchFamily="34" charset="-120"/>
                        </a:rPr>
                        <a:t>Codec</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ProRes 422 HQ</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H.264 · 24 Mb/s</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171F"/>
                          </a:solidFill>
                          <a:latin typeface="Arial" pitchFamily="34" charset="0"/>
                          <a:ea typeface="Arial" pitchFamily="34" charset="-122"/>
                          <a:cs typeface="Arial" pitchFamily="34" charset="-120"/>
                        </a:rPr>
                        <a:t>مسار واحد لكل نسخة</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2171F"/>
                          </a:solidFill>
                          <a:latin typeface="Arial" pitchFamily="34" charset="0"/>
                          <a:ea typeface="Arial" pitchFamily="34" charset="-122"/>
                          <a:cs typeface="Arial" pitchFamily="34" charset="-120"/>
                        </a:rPr>
                        <a:t>Resolution</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3840 × 2160</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1920 × 1080</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171F"/>
                          </a:solidFill>
                          <a:latin typeface="Arial" pitchFamily="34" charset="0"/>
                          <a:ea typeface="Arial" pitchFamily="34" charset="-122"/>
                          <a:cs typeface="Arial" pitchFamily="34" charset="-120"/>
                        </a:rPr>
                        <a:t>‎25 fps · Rec.709</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2171F"/>
                          </a:solidFill>
                          <a:latin typeface="Arial" pitchFamily="34" charset="0"/>
                          <a:ea typeface="Arial" pitchFamily="34" charset="-122"/>
                          <a:cs typeface="Arial" pitchFamily="34" charset="-120"/>
                        </a:rPr>
                        <a:t>Loudness</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−23 LUFS</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−16 LUFS</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171F"/>
                          </a:solidFill>
                          <a:latin typeface="Arial" pitchFamily="34" charset="0"/>
                          <a:ea typeface="Arial" pitchFamily="34" charset="-122"/>
                          <a:cs typeface="Arial" pitchFamily="34" charset="-120"/>
                        </a:rPr>
                        <a:t>True peak ≤ −1 dBTP</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2171F"/>
                          </a:solidFill>
                          <a:latin typeface="Arial" pitchFamily="34" charset="0"/>
                          <a:ea typeface="Arial" pitchFamily="34" charset="-122"/>
                          <a:cs typeface="Arial" pitchFamily="34" charset="-120"/>
                        </a:rPr>
                        <a:t>Subtitles</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عربي + إنجليزي</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عربي فقط</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171F"/>
                          </a:solidFill>
                          <a:latin typeface="Arial" pitchFamily="34" charset="0"/>
                          <a:ea typeface="Arial" pitchFamily="34" charset="-122"/>
                          <a:cs typeface="Arial" pitchFamily="34" charset="-120"/>
                        </a:rPr>
                        <a:t>SRT + burned-in</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2171F"/>
                          </a:solidFill>
                          <a:latin typeface="Arial" pitchFamily="34" charset="0"/>
                          <a:ea typeface="Arial" pitchFamily="34" charset="-122"/>
                          <a:cs typeface="Arial" pitchFamily="34" charset="-120"/>
                        </a:rPr>
                        <a:t>Deadline</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24830"/>
                          </a:solidFill>
                          <a:latin typeface="Arial" pitchFamily="34" charset="0"/>
                          <a:ea typeface="Arial" pitchFamily="34" charset="-122"/>
                          <a:cs typeface="Arial" pitchFamily="34" charset="-120"/>
                        </a:rPr>
                        <a:t>30 Jun 2026</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2171F"/>
                          </a:solidFill>
                          <a:latin typeface="Arial" pitchFamily="34" charset="0"/>
                          <a:ea typeface="Arial" pitchFamily="34" charset="-122"/>
                          <a:cs typeface="Arial" pitchFamily="34" charset="-120"/>
                        </a:rPr>
                        <a:t>04 Jul 2026</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B24830"/>
                          </a:solidFill>
                          <a:latin typeface="Arial" pitchFamily="34" charset="0"/>
                          <a:ea typeface="Arial" pitchFamily="34" charset="-122"/>
                          <a:cs typeface="Arial" pitchFamily="34" charset="-120"/>
                        </a:rPr>
                        <a:t>لا يتغير موعد التسليم</a:t>
                      </a:r>
                      <a:endParaRPr lang="en-US" sz="1200" dirty="0">
                        <a:latin typeface="Arial" charset="0"/>
                        <a:ea typeface="Arial" charset="0"/>
                        <a:cs typeface="Arial" charset="0"/>
                      </a:endParaRPr>
                    </a:p>
                  </a:txBody>
                  <a:tcPr marL="91440" marR="91440" marT="45720" marB="45720" anchor="ctr">
                    <a:lnL w="12700" cap="flat" cmpd="sng" algn="ctr">
                      <a:solidFill>
                        <a:srgbClr val="D8D3C9"/>
                      </a:solidFill>
                      <a:prstDash val="solid"/>
                      <a:round/>
                      <a:headEnd type="none" w="med" len="med"/>
                      <a:tailEnd type="none" w="med" len="med"/>
                    </a:lnL>
                    <a:lnR w="12700" cap="flat" cmpd="sng" algn="ctr">
                      <a:solidFill>
                        <a:srgbClr val="D8D3C9"/>
                      </a:solidFill>
                      <a:prstDash val="solid"/>
                      <a:round/>
                      <a:headEnd type="none" w="med" len="med"/>
                      <a:tailEnd type="none" w="med" len="med"/>
                    </a:lnR>
                    <a:lnT w="12700" cap="flat" cmpd="sng" algn="ctr">
                      <a:solidFill>
                        <a:srgbClr val="D8D3C9"/>
                      </a:solidFill>
                      <a:prstDash val="solid"/>
                      <a:round/>
                      <a:headEnd type="none" w="med" len="med"/>
                      <a:tailEnd type="none" w="med" len="med"/>
                    </a:lnT>
                    <a:lnB w="12700" cap="flat" cmpd="sng" algn="ctr">
                      <a:solidFill>
                        <a:srgbClr val="D8D3C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709160"/>
            <a:ext cx="11064240" cy="1051560"/>
          </a:xfrm>
          <a:prstGeom prst="roundRect">
            <a:avLst>
              <a:gd name="adj" fmla="val 4348"/>
            </a:avLst>
          </a:prstGeom>
          <a:solidFill>
            <a:srgbClr val="F4F1EC"/>
          </a:solidFill>
          <a:ln/>
        </p:spPr>
      </p:sp>
      <p:pic>
        <p:nvPicPr>
          <p:cNvPr id="6" name="Image 0" descr="preencoded.png">    </p:cNvPr>
          <p:cNvPicPr>
            <a:picLocks noChangeAspect="1"/>
          </p:cNvPicPr>
          <p:nvPr/>
        </p:nvPicPr>
        <p:blipFill>
          <a:blip r:embed="rId1"/>
          <a:stretch>
            <a:fillRect/>
          </a:stretch>
        </p:blipFill>
        <p:spPr>
          <a:xfrm>
            <a:off x="777240" y="4892040"/>
            <a:ext cx="2926080" cy="667512"/>
          </a:xfrm>
          <a:prstGeom prst="rect">
            <a:avLst/>
          </a:prstGeom>
        </p:spPr>
      </p:pic>
      <p:sp>
        <p:nvSpPr>
          <p:cNvPr id="7" name="Text 3"/>
          <p:cNvSpPr txBox="1"/>
          <p:nvPr/>
        </p:nvSpPr>
        <p:spPr>
          <a:xfrm>
            <a:off x="3977640" y="4846320"/>
            <a:ext cx="7406640" cy="777240"/>
          </a:xfrm>
          <a:prstGeom prst="rect">
            <a:avLst/>
          </a:prstGeom>
          <a:noFill/>
          <a:ln/>
        </p:spPr>
        <p:txBody>
          <a:bodyPr wrap="square" lIns="0" tIns="0" rIns="0" bIns="0" rtlCol="0" anchor="ctr"/>
          <a:lstStyle/>
          <a:p>
            <a:pPr indent="0" marL="0">
              <a:lnSpc>
                <a:spcPts val="1900"/>
              </a:lnSpc>
              <a:buNone/>
            </a:pPr>
            <a:r>
              <a:rPr lang="en-US" sz="1200" dirty="0">
                <a:solidFill>
                  <a:srgbClr val="12171F"/>
                </a:solidFill>
                <a:latin typeface="Arial" pitchFamily="34" charset="0"/>
                <a:ea typeface="Arial" pitchFamily="34" charset="-122"/>
                <a:cs typeface="Arial" pitchFamily="34" charset="-120"/>
              </a:rPr>
              <a:t>Every master ships with ten seconds of bars and tone at the head.</a:t>
            </a:r>
            <a:pPr indent="0" marL="0">
              <a:lnSpc>
                <a:spcPts val="1900"/>
              </a:lnSpc>
              <a:buNone/>
            </a:pPr>
            <a:endParaRPr lang="en-US" sz="1200" dirty="0"/>
          </a:p>
          <a:p>
            <a:pPr indent="0" marL="0">
              <a:lnSpc>
                <a:spcPts val="1900"/>
              </a:lnSpc>
              <a:buNone/>
            </a:pPr>
            <a:r>
              <a:rPr lang="en-US" sz="1200" dirty="0">
                <a:solidFill>
                  <a:srgbClr val="5B6470"/>
                </a:solidFill>
                <a:latin typeface="Arial" pitchFamily="34" charset="0"/>
                <a:ea typeface="Arial" pitchFamily="34" charset="-122"/>
                <a:cs typeface="Arial" pitchFamily="34" charset="-120"/>
              </a:rPr>
              <a:t>كل نسخة رئيسية تبدأ بعشر ثوانٍ من شريط المعايرة والنغمة المرجعية</a:t>
            </a:r>
            <a:endParaRPr lang="en-US" sz="1200" dirty="0"/>
          </a:p>
        </p:txBody>
      </p:sp>
      <p:sp>
        <p:nvSpPr>
          <p:cNvPr id="8" name="Text 4"/>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900" dirty="0">
                <a:solidFill>
                  <a:srgbClr val="9AA1AB"/>
                </a:solidFill>
                <a:latin typeface="Arial" pitchFamily="34" charset="0"/>
                <a:ea typeface="Arial" pitchFamily="34" charset="-122"/>
                <a:cs typeface="Arial" pitchFamily="34" charset="-120"/>
              </a:rPr>
              <a:t>Nile Frame Studio  ·  استوديو نايل فريم</a:t>
            </a:r>
            <a:endParaRPr lang="en-US" sz="900" dirty="0"/>
          </a:p>
        </p:txBody>
      </p:sp>
      <p:sp>
        <p:nvSpPr>
          <p:cNvPr id="9" name="Text 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00" dirty="0">
                <a:solidFill>
                  <a:srgbClr val="9AA1A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863840" cy="502920"/>
          </a:xfrm>
          <a:prstGeom prst="rect">
            <a:avLst/>
          </a:prstGeom>
          <a:noFill/>
          <a:ln/>
        </p:spPr>
        <p:txBody>
          <a:bodyPr wrap="square" lIns="0" tIns="0" rIns="0" bIns="0" rtlCol="0" anchor="ctr"/>
          <a:lstStyle/>
          <a:p>
            <a:pPr indent="0" marL="0">
              <a:buNone/>
            </a:pPr>
            <a:r>
              <a:rPr lang="en-US" sz="3200" b="1" dirty="0">
                <a:solidFill>
                  <a:srgbClr val="12171F"/>
                </a:solidFill>
                <a:latin typeface="Cambria" pitchFamily="34" charset="0"/>
                <a:ea typeface="Cambria" pitchFamily="34" charset="-122"/>
                <a:cs typeface="Cambria" pitchFamily="34" charset="-120"/>
              </a:rPr>
              <a:t>Route to lock</a:t>
            </a:r>
            <a:endParaRPr lang="en-US" sz="3200" dirty="0"/>
          </a:p>
        </p:txBody>
      </p:sp>
      <p:sp>
        <p:nvSpPr>
          <p:cNvPr id="3" name="Text 1"/>
          <p:cNvSpPr txBox="1"/>
          <p:nvPr/>
        </p:nvSpPr>
        <p:spPr>
          <a:xfrm>
            <a:off x="7315200" y="475488"/>
            <a:ext cx="4297680" cy="411480"/>
          </a:xfrm>
          <a:prstGeom prst="rect">
            <a:avLst/>
          </a:prstGeom>
          <a:noFill/>
          <a:ln/>
        </p:spPr>
        <p:txBody>
          <a:bodyPr wrap="square" lIns="0" tIns="0" rIns="0" bIns="0" rtlCol="0" anchor="ctr"/>
          <a:lstStyle/>
          <a:p>
            <a:pPr rtl="1" algn="r" indent="0" marL="0">
              <a:buNone/>
            </a:pPr>
            <a:r>
              <a:rPr lang="en-US" sz="1800" dirty="0">
                <a:solidFill>
                  <a:srgbClr val="2E7D74"/>
                </a:solidFill>
                <a:latin typeface="Arial" pitchFamily="34" charset="0"/>
                <a:ea typeface="Arial" pitchFamily="34" charset="-122"/>
                <a:cs typeface="Arial" pitchFamily="34" charset="-120"/>
              </a:rPr>
              <a:t>الطريق إلى التثبيت النهائي</a:t>
            </a:r>
            <a:endParaRPr lang="en-US" sz="1800" dirty="0"/>
          </a:p>
        </p:txBody>
      </p:sp>
      <p:sp>
        <p:nvSpPr>
          <p:cNvPr id="4" name="Text 2"/>
          <p:cNvSpPr txBox="1"/>
          <p:nvPr/>
        </p:nvSpPr>
        <p:spPr>
          <a:xfrm>
            <a:off x="548640" y="1371600"/>
            <a:ext cx="8412480" cy="365760"/>
          </a:xfrm>
          <a:prstGeom prst="rect">
            <a:avLst/>
          </a:prstGeom>
          <a:noFill/>
          <a:ln/>
        </p:spPr>
        <p:txBody>
          <a:bodyPr wrap="square" lIns="0" tIns="0" rIns="0" bIns="0" rtlCol="0" anchor="ctr"/>
          <a:lstStyle/>
          <a:p>
            <a:pPr indent="0" marL="0">
              <a:buNone/>
            </a:pPr>
            <a:r>
              <a:rPr lang="en-US" sz="1400" b="1" dirty="0">
                <a:solidFill>
                  <a:srgbClr val="12171F"/>
                </a:solidFill>
                <a:latin typeface="Arial" pitchFamily="34" charset="0"/>
                <a:ea typeface="Arial" pitchFamily="34" charset="-122"/>
                <a:cs typeface="Arial" pitchFamily="34" charset="-120"/>
              </a:rPr>
              <a:t>Five steps, twenty-one days. </a:t>
            </a:r>
            <a:pPr indent="0" marL="0">
              <a:buNone/>
            </a:pPr>
            <a:r>
              <a:rPr lang="en-US" sz="1400" dirty="0">
                <a:solidFill>
                  <a:srgbClr val="5B6470"/>
                </a:solidFill>
                <a:latin typeface="Arial" pitchFamily="34" charset="0"/>
                <a:ea typeface="Arial" pitchFamily="34" charset="-122"/>
                <a:cs typeface="Arial" pitchFamily="34" charset="-120"/>
              </a:rPr>
              <a:t>The plan below is what the client signed off on 04 May.</a:t>
            </a:r>
            <a:endParaRPr lang="en-US" sz="1400" dirty="0"/>
          </a:p>
        </p:txBody>
      </p:sp>
      <p:sp>
        <p:nvSpPr>
          <p:cNvPr id="5" name="Text 3"/>
          <p:cNvSpPr txBox="1"/>
          <p:nvPr/>
        </p:nvSpPr>
        <p:spPr>
          <a:xfrm>
            <a:off x="5120640" y="1828800"/>
            <a:ext cx="6492240" cy="365760"/>
          </a:xfrm>
          <a:prstGeom prst="rect">
            <a:avLst/>
          </a:prstGeom>
          <a:noFill/>
          <a:ln/>
        </p:spPr>
        <p:txBody>
          <a:bodyPr wrap="square" lIns="0" tIns="0" rIns="0" bIns="0" rtlCol="0" anchor="ctr"/>
          <a:lstStyle/>
          <a:p>
            <a:pPr rtl="1" algn="r" indent="0" marL="0">
              <a:buNone/>
            </a:pPr>
            <a:r>
              <a:rPr lang="en-US" sz="1300" dirty="0">
                <a:solidFill>
                  <a:srgbClr val="5B6470"/>
                </a:solidFill>
                <a:latin typeface="Arial" pitchFamily="34" charset="0"/>
                <a:ea typeface="Arial" pitchFamily="34" charset="-122"/>
                <a:cs typeface="Arial" pitchFamily="34" charset="-120"/>
              </a:rPr>
              <a:t>خمس خطوات على مدى واحد وعشرين يومًا، وفق ما اعتمده العميل في الرابع من مايو</a:t>
            </a:r>
            <a:endParaRPr lang="en-US" sz="1300" dirty="0"/>
          </a:p>
        </p:txBody>
      </p:sp>
      <p:sp>
        <p:nvSpPr>
          <p:cNvPr id="6" name="Shape 4"/>
          <p:cNvSpPr/>
          <p:nvPr/>
        </p:nvSpPr>
        <p:spPr>
          <a:xfrm>
            <a:off x="1097280" y="3063240"/>
            <a:ext cx="10058400" cy="0"/>
          </a:xfrm>
          <a:prstGeom prst="line">
            <a:avLst/>
          </a:prstGeom>
          <a:noFill/>
          <a:ln w="25400">
            <a:solidFill>
              <a:srgbClr val="E0DAD0"/>
            </a:solidFill>
            <a:prstDash val="solid"/>
          </a:ln>
        </p:spPr>
      </p:sp>
      <p:sp>
        <p:nvSpPr>
          <p:cNvPr id="7" name="Shape 5"/>
          <p:cNvSpPr/>
          <p:nvPr/>
        </p:nvSpPr>
        <p:spPr>
          <a:xfrm>
            <a:off x="1417320" y="2871216"/>
            <a:ext cx="384048" cy="384048"/>
          </a:xfrm>
          <a:prstGeom prst="ellipse">
            <a:avLst/>
          </a:prstGeom>
          <a:solidFill>
            <a:srgbClr val="E8A33D"/>
          </a:solidFill>
          <a:ln/>
        </p:spPr>
      </p:sp>
      <p:sp>
        <p:nvSpPr>
          <p:cNvPr id="8" name="Text 6"/>
          <p:cNvSpPr txBox="1"/>
          <p:nvPr/>
        </p:nvSpPr>
        <p:spPr>
          <a:xfrm>
            <a:off x="1417320" y="2871216"/>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777240" y="3474720"/>
            <a:ext cx="2011680" cy="320040"/>
          </a:xfrm>
          <a:prstGeom prst="rect">
            <a:avLst/>
          </a:prstGeom>
          <a:noFill/>
          <a:ln/>
        </p:spPr>
        <p:txBody>
          <a:bodyPr wrap="square" lIns="0" tIns="0" rIns="0" bIns="0" rtlCol="0" anchor="ctr"/>
          <a:lstStyle/>
          <a:p>
            <a:pPr algn="ctr" indent="0" marL="0">
              <a:buNone/>
            </a:pPr>
            <a:r>
              <a:rPr lang="en-US" sz="1600" b="1" dirty="0">
                <a:solidFill>
                  <a:srgbClr val="12171F"/>
                </a:solidFill>
                <a:latin typeface="Cambria" pitchFamily="34" charset="0"/>
                <a:ea typeface="Cambria" pitchFamily="34" charset="-122"/>
                <a:cs typeface="Cambria" pitchFamily="34" charset="-120"/>
              </a:rPr>
              <a:t>Fine cut</a:t>
            </a:r>
            <a:endParaRPr lang="en-US" sz="1600" dirty="0"/>
          </a:p>
        </p:txBody>
      </p:sp>
      <p:sp>
        <p:nvSpPr>
          <p:cNvPr id="10" name="Text 8"/>
          <p:cNvSpPr txBox="1"/>
          <p:nvPr/>
        </p:nvSpPr>
        <p:spPr>
          <a:xfrm>
            <a:off x="777240" y="3822192"/>
            <a:ext cx="2011680" cy="320040"/>
          </a:xfrm>
          <a:prstGeom prst="rect">
            <a:avLst/>
          </a:prstGeom>
          <a:noFill/>
          <a:ln/>
        </p:spPr>
        <p:txBody>
          <a:bodyPr wrap="square" lIns="0" tIns="0" rIns="0" bIns="0" rtlCol="0" anchor="ctr"/>
          <a:lstStyle/>
          <a:p>
            <a:pPr rtl="1" algn="ctr" indent="0" marL="0">
              <a:buNone/>
            </a:pPr>
            <a:r>
              <a:rPr lang="en-US" sz="1300" dirty="0">
                <a:solidFill>
                  <a:srgbClr val="2E7D74"/>
                </a:solidFill>
                <a:latin typeface="Arial" pitchFamily="34" charset="0"/>
                <a:ea typeface="Arial" pitchFamily="34" charset="-122"/>
                <a:cs typeface="Arial" pitchFamily="34" charset="-120"/>
              </a:rPr>
              <a:t>المونتاج الدقيق</a:t>
            </a:r>
            <a:endParaRPr lang="en-US" sz="1300" dirty="0"/>
          </a:p>
        </p:txBody>
      </p:sp>
      <p:sp>
        <p:nvSpPr>
          <p:cNvPr id="11" name="Text 9"/>
          <p:cNvSpPr txBox="1"/>
          <p:nvPr/>
        </p:nvSpPr>
        <p:spPr>
          <a:xfrm>
            <a:off x="777240" y="4187952"/>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Arial" pitchFamily="34" charset="0"/>
                <a:ea typeface="Arial" pitchFamily="34" charset="-122"/>
                <a:cs typeface="Arial" pitchFamily="34" charset="-120"/>
              </a:rPr>
              <a:t>09 Jun</a:t>
            </a:r>
            <a:endParaRPr lang="en-US" sz="1100" dirty="0"/>
          </a:p>
        </p:txBody>
      </p:sp>
      <p:sp>
        <p:nvSpPr>
          <p:cNvPr id="12" name="Shape 10"/>
          <p:cNvSpPr/>
          <p:nvPr/>
        </p:nvSpPr>
        <p:spPr>
          <a:xfrm>
            <a:off x="3703320" y="2871216"/>
            <a:ext cx="384048" cy="384048"/>
          </a:xfrm>
          <a:prstGeom prst="ellipse">
            <a:avLst/>
          </a:prstGeom>
          <a:solidFill>
            <a:srgbClr val="B24830"/>
          </a:solidFill>
          <a:ln/>
        </p:spPr>
      </p:sp>
      <p:sp>
        <p:nvSpPr>
          <p:cNvPr id="13" name="Text 11"/>
          <p:cNvSpPr txBox="1"/>
          <p:nvPr/>
        </p:nvSpPr>
        <p:spPr>
          <a:xfrm>
            <a:off x="3703320" y="2871216"/>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3063240" y="3474720"/>
            <a:ext cx="2011680" cy="320040"/>
          </a:xfrm>
          <a:prstGeom prst="rect">
            <a:avLst/>
          </a:prstGeom>
          <a:noFill/>
          <a:ln/>
        </p:spPr>
        <p:txBody>
          <a:bodyPr wrap="square" lIns="0" tIns="0" rIns="0" bIns="0" rtlCol="0" anchor="ctr"/>
          <a:lstStyle/>
          <a:p>
            <a:pPr algn="ctr" indent="0" marL="0">
              <a:buNone/>
            </a:pPr>
            <a:r>
              <a:rPr lang="en-US" sz="1600" b="1" dirty="0">
                <a:solidFill>
                  <a:srgbClr val="12171F"/>
                </a:solidFill>
                <a:latin typeface="Cambria" pitchFamily="34" charset="0"/>
                <a:ea typeface="Cambria" pitchFamily="34" charset="-122"/>
                <a:cs typeface="Cambria" pitchFamily="34" charset="-120"/>
              </a:rPr>
              <a:t>Picture lock</a:t>
            </a:r>
            <a:endParaRPr lang="en-US" sz="1600" dirty="0"/>
          </a:p>
        </p:txBody>
      </p:sp>
      <p:sp>
        <p:nvSpPr>
          <p:cNvPr id="15" name="Text 13"/>
          <p:cNvSpPr txBox="1"/>
          <p:nvPr/>
        </p:nvSpPr>
        <p:spPr>
          <a:xfrm>
            <a:off x="3063240" y="3822192"/>
            <a:ext cx="2011680" cy="320040"/>
          </a:xfrm>
          <a:prstGeom prst="rect">
            <a:avLst/>
          </a:prstGeom>
          <a:noFill/>
          <a:ln/>
        </p:spPr>
        <p:txBody>
          <a:bodyPr wrap="square" lIns="0" tIns="0" rIns="0" bIns="0" rtlCol="0" anchor="ctr"/>
          <a:lstStyle/>
          <a:p>
            <a:pPr rtl="1" algn="ctr" indent="0" marL="0">
              <a:buNone/>
            </a:pPr>
            <a:r>
              <a:rPr lang="en-US" sz="1300" dirty="0">
                <a:solidFill>
                  <a:srgbClr val="2E7D74"/>
                </a:solidFill>
                <a:latin typeface="Arial" pitchFamily="34" charset="0"/>
                <a:ea typeface="Arial" pitchFamily="34" charset="-122"/>
                <a:cs typeface="Arial" pitchFamily="34" charset="-120"/>
              </a:rPr>
              <a:t>تثبيت الصورة</a:t>
            </a:r>
            <a:endParaRPr lang="en-US" sz="1300" dirty="0"/>
          </a:p>
        </p:txBody>
      </p:sp>
      <p:sp>
        <p:nvSpPr>
          <p:cNvPr id="16" name="Text 14"/>
          <p:cNvSpPr txBox="1"/>
          <p:nvPr/>
        </p:nvSpPr>
        <p:spPr>
          <a:xfrm>
            <a:off x="3063240" y="4187952"/>
            <a:ext cx="2011680" cy="274320"/>
          </a:xfrm>
          <a:prstGeom prst="rect">
            <a:avLst/>
          </a:prstGeom>
          <a:noFill/>
          <a:ln/>
        </p:spPr>
        <p:txBody>
          <a:bodyPr wrap="square" lIns="0" tIns="0" rIns="0" bIns="0" rtlCol="0" anchor="ctr"/>
          <a:lstStyle/>
          <a:p>
            <a:pPr algn="ctr" indent="0" marL="0">
              <a:buNone/>
            </a:pPr>
            <a:r>
              <a:rPr lang="en-US" sz="1100" b="1" dirty="0">
                <a:solidFill>
                  <a:srgbClr val="B24830"/>
                </a:solidFill>
                <a:latin typeface="Arial" pitchFamily="34" charset="0"/>
                <a:ea typeface="Arial" pitchFamily="34" charset="-122"/>
                <a:cs typeface="Arial" pitchFamily="34" charset="-120"/>
              </a:rPr>
              <a:t>16 Jun</a:t>
            </a:r>
            <a:endParaRPr lang="en-US" sz="1100" dirty="0"/>
          </a:p>
        </p:txBody>
      </p:sp>
      <p:sp>
        <p:nvSpPr>
          <p:cNvPr id="17" name="Shape 15"/>
          <p:cNvSpPr/>
          <p:nvPr/>
        </p:nvSpPr>
        <p:spPr>
          <a:xfrm>
            <a:off x="5989320" y="2871216"/>
            <a:ext cx="384048" cy="384048"/>
          </a:xfrm>
          <a:prstGeom prst="ellipse">
            <a:avLst/>
          </a:prstGeom>
          <a:solidFill>
            <a:srgbClr val="E8A33D"/>
          </a:solidFill>
          <a:ln/>
        </p:spPr>
      </p:sp>
      <p:sp>
        <p:nvSpPr>
          <p:cNvPr id="18" name="Text 16"/>
          <p:cNvSpPr txBox="1"/>
          <p:nvPr/>
        </p:nvSpPr>
        <p:spPr>
          <a:xfrm>
            <a:off x="5989320" y="2871216"/>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5349240" y="3474720"/>
            <a:ext cx="2011680" cy="320040"/>
          </a:xfrm>
          <a:prstGeom prst="rect">
            <a:avLst/>
          </a:prstGeom>
          <a:noFill/>
          <a:ln/>
        </p:spPr>
        <p:txBody>
          <a:bodyPr wrap="square" lIns="0" tIns="0" rIns="0" bIns="0" rtlCol="0" anchor="ctr"/>
          <a:lstStyle/>
          <a:p>
            <a:pPr algn="ctr" indent="0" marL="0">
              <a:buNone/>
            </a:pPr>
            <a:r>
              <a:rPr lang="en-US" sz="1600" b="1" dirty="0">
                <a:solidFill>
                  <a:srgbClr val="12171F"/>
                </a:solidFill>
                <a:latin typeface="Cambria" pitchFamily="34" charset="0"/>
                <a:ea typeface="Cambria" pitchFamily="34" charset="-122"/>
                <a:cs typeface="Cambria" pitchFamily="34" charset="-120"/>
              </a:rPr>
              <a:t>Conform</a:t>
            </a:r>
            <a:endParaRPr lang="en-US" sz="1600" dirty="0"/>
          </a:p>
        </p:txBody>
      </p:sp>
      <p:sp>
        <p:nvSpPr>
          <p:cNvPr id="20" name="Text 18"/>
          <p:cNvSpPr txBox="1"/>
          <p:nvPr/>
        </p:nvSpPr>
        <p:spPr>
          <a:xfrm>
            <a:off x="5349240" y="3822192"/>
            <a:ext cx="2011680" cy="320040"/>
          </a:xfrm>
          <a:prstGeom prst="rect">
            <a:avLst/>
          </a:prstGeom>
          <a:noFill/>
          <a:ln/>
        </p:spPr>
        <p:txBody>
          <a:bodyPr wrap="square" lIns="0" tIns="0" rIns="0" bIns="0" rtlCol="0" anchor="ctr"/>
          <a:lstStyle/>
          <a:p>
            <a:pPr rtl="1" algn="ctr" indent="0" marL="0">
              <a:buNone/>
            </a:pPr>
            <a:r>
              <a:rPr lang="en-US" sz="1300" dirty="0">
                <a:solidFill>
                  <a:srgbClr val="2E7D74"/>
                </a:solidFill>
                <a:latin typeface="Arial" pitchFamily="34" charset="0"/>
                <a:ea typeface="Arial" pitchFamily="34" charset="-122"/>
                <a:cs typeface="Arial" pitchFamily="34" charset="-120"/>
              </a:rPr>
              <a:t>التجميع</a:t>
            </a:r>
            <a:endParaRPr lang="en-US" sz="1300" dirty="0"/>
          </a:p>
        </p:txBody>
      </p:sp>
      <p:sp>
        <p:nvSpPr>
          <p:cNvPr id="21" name="Text 19"/>
          <p:cNvSpPr txBox="1"/>
          <p:nvPr/>
        </p:nvSpPr>
        <p:spPr>
          <a:xfrm>
            <a:off x="5349240" y="4187952"/>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Arial" pitchFamily="34" charset="0"/>
                <a:ea typeface="Arial" pitchFamily="34" charset="-122"/>
                <a:cs typeface="Arial" pitchFamily="34" charset="-120"/>
              </a:rPr>
              <a:t>19 Jun</a:t>
            </a:r>
            <a:endParaRPr lang="en-US" sz="1100" dirty="0"/>
          </a:p>
        </p:txBody>
      </p:sp>
      <p:sp>
        <p:nvSpPr>
          <p:cNvPr id="22" name="Shape 20"/>
          <p:cNvSpPr/>
          <p:nvPr/>
        </p:nvSpPr>
        <p:spPr>
          <a:xfrm>
            <a:off x="8275320" y="2871216"/>
            <a:ext cx="384048" cy="384048"/>
          </a:xfrm>
          <a:prstGeom prst="ellipse">
            <a:avLst/>
          </a:prstGeom>
          <a:solidFill>
            <a:srgbClr val="E8A33D"/>
          </a:solidFill>
          <a:ln/>
        </p:spPr>
      </p:sp>
      <p:sp>
        <p:nvSpPr>
          <p:cNvPr id="23" name="Text 21"/>
          <p:cNvSpPr txBox="1"/>
          <p:nvPr/>
        </p:nvSpPr>
        <p:spPr>
          <a:xfrm>
            <a:off x="8275320" y="2871216"/>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7635240" y="3474720"/>
            <a:ext cx="2011680" cy="320040"/>
          </a:xfrm>
          <a:prstGeom prst="rect">
            <a:avLst/>
          </a:prstGeom>
          <a:noFill/>
          <a:ln/>
        </p:spPr>
        <p:txBody>
          <a:bodyPr wrap="square" lIns="0" tIns="0" rIns="0" bIns="0" rtlCol="0" anchor="ctr"/>
          <a:lstStyle/>
          <a:p>
            <a:pPr algn="ctr" indent="0" marL="0">
              <a:buNone/>
            </a:pPr>
            <a:r>
              <a:rPr lang="en-US" sz="1600" b="1" dirty="0">
                <a:solidFill>
                  <a:srgbClr val="12171F"/>
                </a:solidFill>
                <a:latin typeface="Cambria" pitchFamily="34" charset="0"/>
                <a:ea typeface="Cambria" pitchFamily="34" charset="-122"/>
                <a:cs typeface="Cambria" pitchFamily="34" charset="-120"/>
              </a:rPr>
              <a:t>Grade &amp; mix</a:t>
            </a:r>
            <a:endParaRPr lang="en-US" sz="1600" dirty="0"/>
          </a:p>
        </p:txBody>
      </p:sp>
      <p:sp>
        <p:nvSpPr>
          <p:cNvPr id="25" name="Text 23"/>
          <p:cNvSpPr txBox="1"/>
          <p:nvPr/>
        </p:nvSpPr>
        <p:spPr>
          <a:xfrm>
            <a:off x="7635240" y="3822192"/>
            <a:ext cx="2011680" cy="320040"/>
          </a:xfrm>
          <a:prstGeom prst="rect">
            <a:avLst/>
          </a:prstGeom>
          <a:noFill/>
          <a:ln/>
        </p:spPr>
        <p:txBody>
          <a:bodyPr wrap="square" lIns="0" tIns="0" rIns="0" bIns="0" rtlCol="0" anchor="ctr"/>
          <a:lstStyle/>
          <a:p>
            <a:pPr rtl="1" algn="ctr" indent="0" marL="0">
              <a:buNone/>
            </a:pPr>
            <a:r>
              <a:rPr lang="en-US" sz="1300" dirty="0">
                <a:solidFill>
                  <a:srgbClr val="2E7D74"/>
                </a:solidFill>
                <a:latin typeface="Arial" pitchFamily="34" charset="0"/>
                <a:ea typeface="Arial" pitchFamily="34" charset="-122"/>
                <a:cs typeface="Arial" pitchFamily="34" charset="-120"/>
              </a:rPr>
              <a:t>التصحيح والمكساج</a:t>
            </a:r>
            <a:endParaRPr lang="en-US" sz="1300" dirty="0"/>
          </a:p>
        </p:txBody>
      </p:sp>
      <p:sp>
        <p:nvSpPr>
          <p:cNvPr id="26" name="Text 24"/>
          <p:cNvSpPr txBox="1"/>
          <p:nvPr/>
        </p:nvSpPr>
        <p:spPr>
          <a:xfrm>
            <a:off x="7635240" y="4187952"/>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Arial" pitchFamily="34" charset="0"/>
                <a:ea typeface="Arial" pitchFamily="34" charset="-122"/>
                <a:cs typeface="Arial" pitchFamily="34" charset="-120"/>
              </a:rPr>
              <a:t>26 Jun</a:t>
            </a:r>
            <a:endParaRPr lang="en-US" sz="1100" dirty="0"/>
          </a:p>
        </p:txBody>
      </p:sp>
      <p:sp>
        <p:nvSpPr>
          <p:cNvPr id="27" name="Shape 25"/>
          <p:cNvSpPr/>
          <p:nvPr/>
        </p:nvSpPr>
        <p:spPr>
          <a:xfrm>
            <a:off x="10561320" y="2871216"/>
            <a:ext cx="384048" cy="384048"/>
          </a:xfrm>
          <a:prstGeom prst="ellipse">
            <a:avLst/>
          </a:prstGeom>
          <a:solidFill>
            <a:srgbClr val="E8A33D"/>
          </a:solidFill>
          <a:ln/>
        </p:spPr>
      </p:sp>
      <p:sp>
        <p:nvSpPr>
          <p:cNvPr id="28" name="Text 26"/>
          <p:cNvSpPr txBox="1"/>
          <p:nvPr/>
        </p:nvSpPr>
        <p:spPr>
          <a:xfrm>
            <a:off x="10561320" y="2871216"/>
            <a:ext cx="384048" cy="384048"/>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5</a:t>
            </a:r>
            <a:endParaRPr lang="en-US" sz="1300" dirty="0"/>
          </a:p>
        </p:txBody>
      </p:sp>
      <p:sp>
        <p:nvSpPr>
          <p:cNvPr id="29" name="Text 27"/>
          <p:cNvSpPr txBox="1"/>
          <p:nvPr/>
        </p:nvSpPr>
        <p:spPr>
          <a:xfrm>
            <a:off x="9921240" y="3474720"/>
            <a:ext cx="2011680" cy="320040"/>
          </a:xfrm>
          <a:prstGeom prst="rect">
            <a:avLst/>
          </a:prstGeom>
          <a:noFill/>
          <a:ln/>
        </p:spPr>
        <p:txBody>
          <a:bodyPr wrap="square" lIns="0" tIns="0" rIns="0" bIns="0" rtlCol="0" anchor="ctr"/>
          <a:lstStyle/>
          <a:p>
            <a:pPr algn="ctr" indent="0" marL="0">
              <a:buNone/>
            </a:pPr>
            <a:r>
              <a:rPr lang="en-US" sz="1600" b="1" dirty="0">
                <a:solidFill>
                  <a:srgbClr val="12171F"/>
                </a:solidFill>
                <a:latin typeface="Cambria" pitchFamily="34" charset="0"/>
                <a:ea typeface="Cambria" pitchFamily="34" charset="-122"/>
                <a:cs typeface="Cambria" pitchFamily="34" charset="-120"/>
              </a:rPr>
              <a:t>Delivery</a:t>
            </a:r>
            <a:endParaRPr lang="en-US" sz="1600" dirty="0"/>
          </a:p>
        </p:txBody>
      </p:sp>
      <p:sp>
        <p:nvSpPr>
          <p:cNvPr id="30" name="Text 28"/>
          <p:cNvSpPr txBox="1"/>
          <p:nvPr/>
        </p:nvSpPr>
        <p:spPr>
          <a:xfrm>
            <a:off x="9921240" y="3822192"/>
            <a:ext cx="2011680" cy="320040"/>
          </a:xfrm>
          <a:prstGeom prst="rect">
            <a:avLst/>
          </a:prstGeom>
          <a:noFill/>
          <a:ln/>
        </p:spPr>
        <p:txBody>
          <a:bodyPr wrap="square" lIns="0" tIns="0" rIns="0" bIns="0" rtlCol="0" anchor="ctr"/>
          <a:lstStyle/>
          <a:p>
            <a:pPr rtl="1" algn="ctr" indent="0" marL="0">
              <a:buNone/>
            </a:pPr>
            <a:r>
              <a:rPr lang="en-US" sz="1300" dirty="0">
                <a:solidFill>
                  <a:srgbClr val="2E7D74"/>
                </a:solidFill>
                <a:latin typeface="Arial" pitchFamily="34" charset="0"/>
                <a:ea typeface="Arial" pitchFamily="34" charset="-122"/>
                <a:cs typeface="Arial" pitchFamily="34" charset="-120"/>
              </a:rPr>
              <a:t>التسليم</a:t>
            </a:r>
            <a:endParaRPr lang="en-US" sz="1300" dirty="0"/>
          </a:p>
        </p:txBody>
      </p:sp>
      <p:sp>
        <p:nvSpPr>
          <p:cNvPr id="31" name="Text 29"/>
          <p:cNvSpPr txBox="1"/>
          <p:nvPr/>
        </p:nvSpPr>
        <p:spPr>
          <a:xfrm>
            <a:off x="9921240" y="4187952"/>
            <a:ext cx="2011680" cy="274320"/>
          </a:xfrm>
          <a:prstGeom prst="rect">
            <a:avLst/>
          </a:prstGeom>
          <a:noFill/>
          <a:ln/>
        </p:spPr>
        <p:txBody>
          <a:bodyPr wrap="square" lIns="0" tIns="0" rIns="0" bIns="0" rtlCol="0" anchor="ctr"/>
          <a:lstStyle/>
          <a:p>
            <a:pPr algn="ctr" indent="0" marL="0">
              <a:buNone/>
            </a:pPr>
            <a:r>
              <a:rPr lang="en-US" sz="1100" dirty="0">
                <a:solidFill>
                  <a:srgbClr val="5B6470"/>
                </a:solidFill>
                <a:latin typeface="Arial" pitchFamily="34" charset="0"/>
                <a:ea typeface="Arial" pitchFamily="34" charset="-122"/>
                <a:cs typeface="Arial" pitchFamily="34" charset="-120"/>
              </a:rPr>
              <a:t>30 Jun</a:t>
            </a:r>
            <a:endParaRPr lang="en-US" sz="1100" dirty="0"/>
          </a:p>
        </p:txBody>
      </p:sp>
      <p:sp>
        <p:nvSpPr>
          <p:cNvPr id="32" name="Text 30"/>
          <p:cNvSpPr txBox="1"/>
          <p:nvPr/>
        </p:nvSpPr>
        <p:spPr>
          <a:xfrm>
            <a:off x="1097280" y="5120640"/>
            <a:ext cx="10058400" cy="457200"/>
          </a:xfrm>
          <a:prstGeom prst="rect">
            <a:avLst/>
          </a:prstGeom>
          <a:noFill/>
          <a:ln/>
        </p:spPr>
        <p:txBody>
          <a:bodyPr wrap="square" lIns="0" tIns="0" rIns="0" bIns="0" rtlCol="0" anchor="ctr"/>
          <a:lstStyle/>
          <a:p>
            <a:pPr algn="ctr" indent="0" marL="0">
              <a:buNone/>
            </a:pPr>
            <a:r>
              <a:rPr lang="en-US" sz="1300" b="1" dirty="0">
                <a:solidFill>
                  <a:srgbClr val="12171F"/>
                </a:solidFill>
                <a:latin typeface="Arial" pitchFamily="34" charset="0"/>
                <a:ea typeface="Arial" pitchFamily="34" charset="-122"/>
                <a:cs typeface="Arial" pitchFamily="34" charset="-120"/>
              </a:rPr>
              <a:t>Only step 2 is fixed. </a:t>
            </a:r>
            <a:pPr algn="ctr" indent="0" marL="0">
              <a:buNone/>
            </a:pPr>
            <a:r>
              <a:rPr lang="en-US" sz="1300" dirty="0">
                <a:solidFill>
                  <a:srgbClr val="5B6470"/>
                </a:solidFill>
                <a:latin typeface="Arial" pitchFamily="34" charset="0"/>
                <a:ea typeface="Arial" pitchFamily="34" charset="-122"/>
                <a:cs typeface="Arial" pitchFamily="34" charset="-120"/>
              </a:rPr>
              <a:t>Everything before it can absorb a slip; nothing after it can. </a:t>
            </a:r>
            <a:pPr algn="ctr" indent="0" marL="0">
              <a:buNone/>
            </a:pPr>
            <a:r>
              <a:rPr lang="en-US" sz="1300" dirty="0">
                <a:solidFill>
                  <a:srgbClr val="5B6470"/>
                </a:solidFill>
                <a:latin typeface="Arial" pitchFamily="34" charset="0"/>
                <a:ea typeface="Arial" pitchFamily="34" charset="-122"/>
                <a:cs typeface="Arial" pitchFamily="34" charset="-120"/>
              </a:rPr>
              <a:t>الخطوة الثانية وحدها غير قابلة للتأجيل</a:t>
            </a:r>
            <a:endParaRPr lang="en-US" sz="1300" dirty="0"/>
          </a:p>
        </p:txBody>
      </p:sp>
      <p:sp>
        <p:nvSpPr>
          <p:cNvPr id="33" name="Text 31"/>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900" dirty="0">
                <a:solidFill>
                  <a:srgbClr val="9AA1AB"/>
                </a:solidFill>
                <a:latin typeface="Arial" pitchFamily="34" charset="0"/>
                <a:ea typeface="Arial" pitchFamily="34" charset="-122"/>
                <a:cs typeface="Arial" pitchFamily="34" charset="-120"/>
              </a:rPr>
              <a:t>Nile Frame Studio  ·  استوديو نايل فريم</a:t>
            </a:r>
            <a:endParaRPr lang="en-US" sz="900" dirty="0"/>
          </a:p>
        </p:txBody>
      </p:sp>
      <p:sp>
        <p:nvSpPr>
          <p:cNvPr id="34" name="Text 32"/>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00" dirty="0">
                <a:solidFill>
                  <a:srgbClr val="9AA1A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71F"/>
        </a:solidFill>
      </p:bgPr>
    </p:bg>
    <p:spTree>
      <p:nvGrpSpPr>
        <p:cNvPr id="1" name=""/>
        <p:cNvGrpSpPr/>
        <p:nvPr/>
      </p:nvGrpSpPr>
      <p:grpSpPr>
        <a:xfrm>
          <a:off x="0" y="0"/>
          <a:ext cx="0" cy="0"/>
          <a:chOff x="0" y="0"/>
          <a:chExt cx="0" cy="0"/>
        </a:xfrm>
      </p:grpSpPr>
      <p:sp>
        <p:nvSpPr>
          <p:cNvPr id="2" name="Text 0"/>
          <p:cNvSpPr txBox="1"/>
          <p:nvPr/>
        </p:nvSpPr>
        <p:spPr>
          <a:xfrm>
            <a:off x="914400" y="2011680"/>
            <a:ext cx="10332720" cy="822960"/>
          </a:xfrm>
          <a:prstGeom prst="rect">
            <a:avLst/>
          </a:prstGeom>
          <a:noFill/>
          <a:ln/>
        </p:spPr>
        <p:txBody>
          <a:bodyPr wrap="square" lIns="0" tIns="0" rIns="0" bIns="0" rtlCol="0" anchor="ctr"/>
          <a:lstStyle/>
          <a:p>
            <a:pPr algn="ctr" indent="0" marL="0">
              <a:buNone/>
            </a:pPr>
            <a:r>
              <a:rPr lang="en-US" sz="3400" i="1" dirty="0">
                <a:solidFill>
                  <a:srgbClr val="FFFFFF"/>
                </a:solidFill>
                <a:latin typeface="Cambria" pitchFamily="34" charset="0"/>
                <a:ea typeface="Cambria" pitchFamily="34" charset="-122"/>
                <a:cs typeface="Cambria" pitchFamily="34" charset="-120"/>
              </a:rPr>
              <a:t>“Cut on the movement, not on the word.”</a:t>
            </a:r>
            <a:endParaRPr lang="en-US" sz="3400" dirty="0"/>
          </a:p>
        </p:txBody>
      </p:sp>
      <p:sp>
        <p:nvSpPr>
          <p:cNvPr id="3" name="Text 1"/>
          <p:cNvSpPr txBox="1"/>
          <p:nvPr/>
        </p:nvSpPr>
        <p:spPr>
          <a:xfrm>
            <a:off x="914400" y="2926080"/>
            <a:ext cx="10332720" cy="548640"/>
          </a:xfrm>
          <a:prstGeom prst="rect">
            <a:avLst/>
          </a:prstGeom>
          <a:noFill/>
          <a:ln/>
        </p:spPr>
        <p:txBody>
          <a:bodyPr wrap="square" lIns="0" tIns="0" rIns="0" bIns="0" rtlCol="0" anchor="ctr"/>
          <a:lstStyle/>
          <a:p>
            <a:pPr rtl="1" algn="ctr" indent="0" marL="0">
              <a:buNone/>
            </a:pPr>
            <a:r>
              <a:rPr lang="en-US" sz="2200" dirty="0">
                <a:solidFill>
                  <a:srgbClr val="E8A33D"/>
                </a:solidFill>
                <a:latin typeface="Arial" pitchFamily="34" charset="0"/>
                <a:ea typeface="Arial" pitchFamily="34" charset="-122"/>
                <a:cs typeface="Arial" pitchFamily="34" charset="-120"/>
              </a:rPr>
              <a:t>«اقطع على الحركة، لا على الكلمة.»</a:t>
            </a:r>
            <a:endParaRPr lang="en-US" sz="2200" dirty="0"/>
          </a:p>
        </p:txBody>
      </p:sp>
      <p:sp>
        <p:nvSpPr>
          <p:cNvPr id="4" name="Shape 2"/>
          <p:cNvSpPr/>
          <p:nvPr/>
        </p:nvSpPr>
        <p:spPr>
          <a:xfrm>
            <a:off x="5486400" y="3794760"/>
            <a:ext cx="1188720" cy="0"/>
          </a:xfrm>
          <a:prstGeom prst="line">
            <a:avLst/>
          </a:prstGeom>
          <a:noFill/>
          <a:ln w="25400">
            <a:solidFill>
              <a:srgbClr val="B87F1E"/>
            </a:solidFill>
            <a:prstDash val="solid"/>
          </a:ln>
        </p:spPr>
      </p:sp>
      <p:sp>
        <p:nvSpPr>
          <p:cNvPr id="5" name="Text 3"/>
          <p:cNvSpPr txBox="1"/>
          <p:nvPr/>
        </p:nvSpPr>
        <p:spPr>
          <a:xfrm>
            <a:off x="914400" y="4114800"/>
            <a:ext cx="10332720" cy="365760"/>
          </a:xfrm>
          <a:prstGeom prst="rect">
            <a:avLst/>
          </a:prstGeom>
          <a:noFill/>
          <a:ln/>
        </p:spPr>
        <p:txBody>
          <a:bodyPr wrap="square" lIns="0" tIns="0" rIns="0" bIns="0" rtlCol="0" anchor="ctr"/>
          <a:lstStyle/>
          <a:p>
            <a:pPr algn="ctr" indent="0" marL="0">
              <a:buNone/>
            </a:pPr>
            <a:r>
              <a:rPr lang="en-US" sz="1300" dirty="0">
                <a:solidFill>
                  <a:srgbClr val="F4F1EC"/>
                </a:solidFill>
                <a:latin typeface="Arial" pitchFamily="34" charset="0"/>
                <a:ea typeface="Arial" pitchFamily="34" charset="-122"/>
                <a:cs typeface="Arial" pitchFamily="34" charset="-120"/>
              </a:rPr>
              <a:t>post@nileframe.example</a:t>
            </a:r>
            <a:pPr algn="ctr" indent="0" marL="0">
              <a:buNone/>
            </a:pPr>
            <a:r>
              <a:rPr lang="en-US" sz="1300" dirty="0">
                <a:solidFill>
                  <a:srgbClr val="9AA1AB"/>
                </a:solidFill>
                <a:latin typeface="Arial" pitchFamily="34" charset="0"/>
                <a:ea typeface="Arial" pitchFamily="34" charset="-122"/>
                <a:cs typeface="Arial" pitchFamily="34" charset="-120"/>
              </a:rPr>
              <a:t>   ·   </a:t>
            </a:r>
            <a:pPr algn="ctr" indent="0" marL="0">
              <a:buNone/>
            </a:pPr>
            <a:r>
              <a:rPr lang="en-US" sz="1300" dirty="0">
                <a:solidFill>
                  <a:srgbClr val="9AA1AB"/>
                </a:solidFill>
                <a:latin typeface="Arial" pitchFamily="34" charset="0"/>
                <a:ea typeface="Arial" pitchFamily="34" charset="-122"/>
                <a:cs typeface="Arial" pitchFamily="34" charset="-120"/>
              </a:rPr>
              <a:t>الاستفسارات إلى قسم المونتاج</a:t>
            </a:r>
            <a:endParaRPr lang="en-US" sz="1300" dirty="0"/>
          </a:p>
        </p:txBody>
      </p:sp>
      <p:pic>
        <p:nvPicPr>
          <p:cNvPr id="6" name="Image 0" descr="preencoded.png">    </p:cNvPr>
          <p:cNvPicPr>
            <a:picLocks noChangeAspect="1"/>
          </p:cNvPicPr>
          <p:nvPr/>
        </p:nvPicPr>
        <p:blipFill>
          <a:blip r:embed="rId1"/>
          <a:stretch>
            <a:fillRect/>
          </a:stretch>
        </p:blipFill>
        <p:spPr>
          <a:xfrm>
            <a:off x="5852160" y="484632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Nile Frame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Sawt al-Nahr — Post-Production Review / صوت النهر</dc:title>
  <dc:subject>PptxGenJS Presentation</dc:subject>
  <dc:creator>Nile Frame Studio</dc:creator>
  <cp:lastModifiedBy>Nile Frame Studio</cp:lastModifiedBy>
  <cp:revision>1</cp:revision>
  <dcterms:created xsi:type="dcterms:W3CDTF">2026-08-29T17:52:21Z</dcterms:created>
  <dcterms:modified xsi:type="dcterms:W3CDTF">2026-08-29T17:52:21Z</dcterms:modified>
</cp:coreProperties>
</file>