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.xml" ContentType="application/vnd.openxmlformats-officedocument.drawingml.chart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9.xlsx"/></Relationships>
</file>

<file path=ppt/charts/_rels/chart6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0.xlsx"/></Relationships>
</file>

<file path=ppt/charts/_rels/chart6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1.xlsx"/></Relationships>
</file>

<file path=ppt/charts/_rels/chart6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2.xlsx"/></Relationships>
</file>

<file path=ppt/charts/_rels/chart6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3.xlsx"/></Relationships>
</file>

<file path=ppt/charts/_rels/chart6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4.xlsx"/></Relationships>
</file>

<file path=ppt/charts/_rels/chart6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5.xlsx"/></Relationships>
</file>

<file path=ppt/charts/_rels/chart6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6.xlsx"/></Relationships>
</file>

<file path=ppt/charts/_rels/chart6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7.xlsx"/></Relationships>
</file>

<file path=ppt/charts/_rels/chart6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8.xlsx"/></Relationships>
</file>

<file path=ppt/charts/_rels/chart6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9.xlsx"/></Relationships>
</file>

<file path=ppt/charts/_rels/chart7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0.xlsx"/></Relationships>
</file>

<file path=ppt/charts/_rels/chart7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1.xlsx"/></Relationships>
</file>

<file path=ppt/charts/_rels/chart7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2.xlsx"/></Relationships>
</file>

<file path=ppt/charts/_rels/chart7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3.xlsx"/></Relationships>
</file>

<file path=ppt/charts/_rels/chart7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4.xlsx"/></Relationships>
</file>

<file path=ppt/charts/_rels/chart7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5.xlsx"/></Relationships>
</file>

<file path=ppt/charts/_rels/chart7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6.xlsx"/></Relationships>
</file>

<file path=ppt/charts/_rels/chart7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7.xlsx"/></Relationships>
</file>

<file path=ppt/charts/_rels/chart7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8.xlsx"/></Relationships>
</file>

<file path=ppt/charts/_rels/chart7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9.xlsx"/></Relationships>
</file>

<file path=ppt/charts/_rels/chart8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0.xlsx"/></Relationships>
</file>

<file path=ppt/charts/_rels/chart8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1.xlsx"/></Relationships>
</file>

<file path=ppt/charts/_rels/chart8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2.xlsx"/></Relationships>
</file>

<file path=ppt/charts/_rels/chart8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3.xlsx"/></Relationships>
</file>

<file path=ppt/charts/_rels/chart8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4.xlsx"/></Relationships>
</file>

<file path=ppt/charts/_rels/chart8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5.xlsx"/></Relationships>
</file>

<file path=ppt/charts/_rels/chart8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6.xlsx"/></Relationships>
</file>

<file path=ppt/charts/_rels/chart8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7.xlsx"/></Relationships>
</file>

<file path=ppt/charts/_rels/chart8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8.xlsx"/></Relationships>
</file>

<file path=ppt/charts/_rels/chart8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9.xlsx"/></Relationships>
</file>

<file path=ppt/charts/_rels/chart9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0.xlsx"/></Relationships>
</file>

<file path=ppt/charts/_rels/chart9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1.xlsx"/></Relationships>
</file>

<file path=ppt/charts/_rels/chart9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2.xlsx"/></Relationships>
</file>

<file path=ppt/charts/_rels/chart9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3.xlsx"/></Relationships>
</file>

<file path=ppt/charts/_rels/chart9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overlay val="0"/>
      <c:txPr>
        <a:bodyPr/>
        <a:lstStyle/>
        <a:p>
          <a:pPr>
            <a:defRPr sz="1862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62" b="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/>
              <a:t>Stacked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62" b="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/>
              <a:t>Horizontal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</c:v>
                </c:pt>
                <c:pt idx="1">
                  <c:v>-4</c:v>
                </c:pt>
                <c:pt idx="2">
                  <c:v>-1</c:v>
                </c:pt>
                <c:pt idx="3">
                  <c:v>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-7</c:v>
                </c:pt>
                <c:pt idx="2">
                  <c:v>3.5</c:v>
                </c:pt>
                <c:pt idx="3">
                  <c:v>-15</c:v>
                </c:pt>
                <c:pt idx="4">
                  <c:v>22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62" b="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/>
              <a:t>Revenue vs cost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125000</c:v>
                </c:pt>
                <c:pt idx="1">
                  <c:v>180500</c:v>
                </c:pt>
                <c:pt idx="2">
                  <c:v>97250</c:v>
                </c:pt>
                <c:pt idx="3">
                  <c:v>210000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80000</c:v>
                </c:pt>
                <c:pt idx="1">
                  <c:v>95000</c:v>
                </c:pt>
                <c:pt idx="2">
                  <c:v>101000</c:v>
                </c:pt>
                <c:pt idx="3">
                  <c:v>130500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1250.5</c:v>
                </c:pt>
                <c:pt idx="1">
                  <c:v>980.25</c:v>
                </c:pt>
                <c:pt idx="2">
                  <c:v>1730</c:v>
                </c:pt>
                <c:pt idx="3">
                  <c:v>1410</c:v>
                </c:pt>
              </c:numCache>
            </c:numRef>
          </c:val>
        </c:ser>
        <c:dLbls>
          <c:numFmt formatCode="$#,##0" sourceLinked="0"/>
          <c:spPr>
            <a:noFill/>
            <a:ln>
              <a:noFill/>
            </a:ln>
            <a:effectLst/>
          </c:spPr>
          <c:txPr>
            <a:bodyPr/>
            <a:lstStyle/>
            <a:p>
              <a:pPr>
                <a:defRPr sz="1197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$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pPr>
            <a:noFill/>
            <a:ln>
              <a:noFill/>
            </a:ln>
            <a:effectLst/>
          </c:spPr>
          <c:txPr>
            <a:bodyPr/>
            <a:lstStyle/>
            <a:p>
              <a:pPr>
                <a:defRPr sz="1197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3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0.012</c:v>
                </c:pt>
                <c:pt idx="1">
                  <c:v>0.034</c:v>
                </c:pt>
                <c:pt idx="2">
                  <c:v>0.027</c:v>
                </c:pt>
                <c:pt idx="3">
                  <c:v>0.041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</c:v>
                </c:pt>
                <c:pt idx="1">
                  <c:v>98</c:v>
                </c:pt>
                <c:pt idx="2">
                  <c:v>99</c:v>
                </c:pt>
                <c:pt idx="3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  <c:majorUnit val="2.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45</c:v>
                </c:pt>
                <c:pt idx="2">
                  <c:v>900</c:v>
                </c:pt>
                <c:pt idx="3">
                  <c:v>12000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 America region</c:v>
                </c:pt>
                <c:pt idx="1">
                  <c:v>Europe, Middle East and Africa</c:v>
                </c:pt>
                <c:pt idx="2">
                  <c:v>Asia Pacific and Japan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 America region</c:v>
                </c:pt>
                <c:pt idx="1">
                  <c:v>Europe, Middle East and Africa</c:v>
                </c:pt>
                <c:pt idx="2">
                  <c:v>Asia Pacific and Japan</c:v>
                </c:pt>
                <c:pt idx="3">
                  <c:v>Latin America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Sheet1!$A$2:$A$31</c:f>
              <c:strCache>
                <c:ptCount val="30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  <c:pt idx="7">
                  <c:v>Item 8</c:v>
                </c:pt>
                <c:pt idx="8">
                  <c:v>Item 9</c:v>
                </c:pt>
                <c:pt idx="9">
                  <c:v>Item 10</c:v>
                </c:pt>
                <c:pt idx="10">
                  <c:v>Item 11</c:v>
                </c:pt>
                <c:pt idx="11">
                  <c:v>Item 12</c:v>
                </c:pt>
                <c:pt idx="12">
                  <c:v>Item 13</c:v>
                </c:pt>
                <c:pt idx="13">
                  <c:v>Item 14</c:v>
                </c:pt>
                <c:pt idx="14">
                  <c:v>Item 15</c:v>
                </c:pt>
                <c:pt idx="15">
                  <c:v>Item 16</c:v>
                </c:pt>
                <c:pt idx="16">
                  <c:v>Item 17</c:v>
                </c:pt>
                <c:pt idx="17">
                  <c:v>Item 18</c:v>
                </c:pt>
                <c:pt idx="18">
                  <c:v>Item 19</c:v>
                </c:pt>
                <c:pt idx="19">
                  <c:v>Item 20</c:v>
                </c:pt>
                <c:pt idx="20">
                  <c:v>Item 21</c:v>
                </c:pt>
                <c:pt idx="21">
                  <c:v>Item 22</c:v>
                </c:pt>
                <c:pt idx="22">
                  <c:v>Item 23</c:v>
                </c:pt>
                <c:pt idx="23">
                  <c:v>Item 24</c:v>
                </c:pt>
                <c:pt idx="24">
                  <c:v>Item 25</c:v>
                </c:pt>
                <c:pt idx="25">
                  <c:v>Item 26</c:v>
                </c:pt>
                <c:pt idx="26">
                  <c:v>Item 27</c:v>
                </c:pt>
                <c:pt idx="27">
                  <c:v>Item 28</c:v>
                </c:pt>
                <c:pt idx="28">
                  <c:v>Item 29</c:v>
                </c:pt>
                <c:pt idx="29">
                  <c:v>Item 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</c:v>
                </c:pt>
                <c:pt idx="1">
                  <c:v>16</c:v>
                </c:pt>
                <c:pt idx="2">
                  <c:v>7</c:v>
                </c:pt>
                <c:pt idx="3">
                  <c:v>21</c:v>
                </c:pt>
                <c:pt idx="4">
                  <c:v>12</c:v>
                </c:pt>
                <c:pt idx="5">
                  <c:v>3</c:v>
                </c:pt>
                <c:pt idx="6">
                  <c:v>17</c:v>
                </c:pt>
                <c:pt idx="7">
                  <c:v>8</c:v>
                </c:pt>
                <c:pt idx="8">
                  <c:v>22</c:v>
                </c:pt>
                <c:pt idx="9">
                  <c:v>13</c:v>
                </c:pt>
                <c:pt idx="10">
                  <c:v>4</c:v>
                </c:pt>
                <c:pt idx="11">
                  <c:v>18</c:v>
                </c:pt>
                <c:pt idx="12">
                  <c:v>9</c:v>
                </c:pt>
                <c:pt idx="13">
                  <c:v>23</c:v>
                </c:pt>
                <c:pt idx="14">
                  <c:v>14</c:v>
                </c:pt>
                <c:pt idx="15">
                  <c:v>5</c:v>
                </c:pt>
                <c:pt idx="16">
                  <c:v>19</c:v>
                </c:pt>
                <c:pt idx="17">
                  <c:v>10</c:v>
                </c:pt>
                <c:pt idx="18">
                  <c:v>24</c:v>
                </c:pt>
                <c:pt idx="19">
                  <c:v>15</c:v>
                </c:pt>
                <c:pt idx="20">
                  <c:v>6</c:v>
                </c:pt>
                <c:pt idx="21">
                  <c:v>20</c:v>
                </c:pt>
                <c:pt idx="22">
                  <c:v>11</c:v>
                </c:pt>
                <c:pt idx="23">
                  <c:v>2</c:v>
                </c:pt>
                <c:pt idx="24">
                  <c:v>16</c:v>
                </c:pt>
                <c:pt idx="25">
                  <c:v>7</c:v>
                </c:pt>
                <c:pt idx="26">
                  <c:v>21</c:v>
                </c:pt>
                <c:pt idx="27">
                  <c:v>12</c:v>
                </c:pt>
                <c:pt idx="28">
                  <c:v>3</c:v>
                </c:pt>
                <c:pt idx="29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10</c:v>
                </c:pt>
                <c:pt idx="6">
                  <c:v>14</c:v>
                </c:pt>
                <c:pt idx="7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62" b="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/>
              <a:t>With axis titles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30" b="0"/>
                </a:pPr>
                <a:r>
                  <a:rPr lang="en-US"/>
                  <a:t>Quarter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 sz="1330" b="0"/>
                </a:pPr>
                <a:r>
                  <a:rPr lang="en-US"/>
                  <a:t>Units (k)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62" b="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/>
              <a:t>Small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2"/>
          <c:y val="0.1"/>
          <c:w val="0.6"/>
          <c:h val="0.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outer"/>
          <c:xMode val="edge"/>
          <c:yMode val="edge"/>
          <c:x val="0.1"/>
          <c:y val="0.05"/>
          <c:w val="0.85"/>
          <c:h val="0.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>
              <a:solidFill>
                <a:schemeClr val="tx1">
                  <a:lumMod val="5000"/>
                  <a:lumOff val="95000"/>
                </a:schemeClr>
              </a:solidFill>
            </a:ln>
          </c:spPr>
        </c:minorGridlines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62" b="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/>
              <a:t>المبيعات حسب الربع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المبيعات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الربع الأول</c:v>
                </c:pt>
                <c:pt idx="1">
                  <c:v>الربع الثاني</c:v>
                </c:pt>
                <c:pt idx="2">
                  <c:v>الربع الثالث</c:v>
                </c:pt>
                <c:pt idx="3">
                  <c:v>الربع الرابع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التكاليف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الربع الأول</c:v>
                </c:pt>
                <c:pt idx="1">
                  <c:v>الربع الثاني</c:v>
                </c:pt>
                <c:pt idx="2">
                  <c:v>الربع الثالث</c:v>
                </c:pt>
                <c:pt idx="3">
                  <c:v>الربع الرابع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Sheet1!$J$2:$J$5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Series 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Sheet1!$J$2:$J$5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Series 10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Sheet1!$K$2:$K$5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Series 11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Sheet1!$L$2:$L$5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Series 12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Sheet1!$M$2:$M$5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Series 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Sheet1!$N$2:$N$5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Series 14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Sheet1!$O$2:$O$5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14"/>
          <c:order val="14"/>
          <c:tx>
            <c:strRef>
              <c:f>Sheet1!$P$1</c:f>
              <c:strCache>
                <c:ptCount val="1"/>
                <c:pt idx="0">
                  <c:v>Series 15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Sheet1!$P$2:$P$5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15"/>
          <c:order val="15"/>
          <c:tx>
            <c:strRef>
              <c:f>Sheet1!$Q$1</c:f>
              <c:strCache>
                <c:ptCount val="1"/>
                <c:pt idx="0">
                  <c:v>Series 16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Sheet1!$Q$2:$Q$5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6"/>
          <c:order val="16"/>
          <c:tx>
            <c:strRef>
              <c:f>Sheet1!$R$1</c:f>
              <c:strCache>
                <c:ptCount val="1"/>
                <c:pt idx="0">
                  <c:v>Series 17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Sheet1!$R$2:$R$5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17"/>
          <c:order val="17"/>
          <c:tx>
            <c:strRef>
              <c:f>Sheet1!$S$1</c:f>
              <c:strCache>
                <c:ptCount val="1"/>
                <c:pt idx="0">
                  <c:v>Series 18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Sheet1!$S$2:$S$5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18"/>
          <c:order val="18"/>
          <c:tx>
            <c:strRef>
              <c:f>Sheet1!$T$1</c:f>
              <c:strCache>
                <c:ptCount val="1"/>
                <c:pt idx="0">
                  <c:v>Series 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Sheet1!$T$2:$T$5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9"/>
          <c:order val="19"/>
          <c:tx>
            <c:strRef>
              <c:f>Sheet1!$U$1</c:f>
              <c:strCache>
                <c:ptCount val="1"/>
                <c:pt idx="0">
                  <c:v>Series 20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Sheet1!$U$2:$U$5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Series 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Sheet1!$J$2:$J$5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Series 10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Sheet1!$K$2:$K$5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Series 11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Sheet1!$L$2:$L$5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Series 12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Sheet1!$M$2:$M$5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Series 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Sheet1!$N$2:$N$5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Series 14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Sheet1!$O$2:$O$5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14"/>
          <c:order val="14"/>
          <c:tx>
            <c:strRef>
              <c:f>Sheet1!$P$1</c:f>
              <c:strCache>
                <c:ptCount val="1"/>
                <c:pt idx="0">
                  <c:v>Series 15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Sheet1!$P$2:$P$5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15"/>
          <c:order val="15"/>
          <c:tx>
            <c:strRef>
              <c:f>Sheet1!$Q$1</c:f>
              <c:strCache>
                <c:ptCount val="1"/>
                <c:pt idx="0">
                  <c:v>Series 16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Sheet1!$Q$2:$Q$5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6"/>
          <c:order val="16"/>
          <c:tx>
            <c:strRef>
              <c:f>Sheet1!$R$1</c:f>
              <c:strCache>
                <c:ptCount val="1"/>
                <c:pt idx="0">
                  <c:v>Series 17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Sheet1!$R$2:$R$5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17"/>
          <c:order val="17"/>
          <c:tx>
            <c:strRef>
              <c:f>Sheet1!$S$1</c:f>
              <c:strCache>
                <c:ptCount val="1"/>
                <c:pt idx="0">
                  <c:v>Series 18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Sheet1!$S$2:$S$5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18"/>
          <c:order val="18"/>
          <c:tx>
            <c:strRef>
              <c:f>Sheet1!$T$1</c:f>
              <c:strCache>
                <c:ptCount val="1"/>
                <c:pt idx="0">
                  <c:v>Series 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Sheet1!$T$2:$T$5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9"/>
          <c:order val="19"/>
          <c:tx>
            <c:strRef>
              <c:f>Sheet1!$U$1</c:f>
              <c:strCache>
                <c:ptCount val="1"/>
                <c:pt idx="0">
                  <c:v>Series 20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Sheet1!$U$2:$U$5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revenue from the region number 1 excluding returns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Quarterly revenue from the region number 2 excluding returns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Quarterly revenue from the region number 3 excluding returns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axId val="10"/>
        <c:axId val="20"/>
      </c:barChart>
      <c:cat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6"/>
  <c:chart>
    <c:title>
      <c:tx>
        <c:rich>
          <a:bodyPr/>
          <a:lstStyle/>
          <a:p>
            <a:pPr>
              <a:defRPr/>
            </a:pPr>
            <a:r>
              <a:rPr lang="en-US"/>
              <a:t>Style 26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axId val="10"/>
        <c:axId val="20"/>
      </c:barChart>
      <c:cat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axId val="10"/>
        <c:axId val="20"/>
      </c:barChart>
      <c:catAx>
        <c:axId val="10"/>
        <c:scaling>
          <c:orientation val="minMax"/>
        </c:scaling>
        <c:delete val="0"/>
        <c:axPos val="l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b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"/>
        <c:axId val="20"/>
      </c:barChart>
      <c:cat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solidFill>
      <a:srgbClr val="F2F2F2"/>
    </a:solidFill>
    <a:ln w="12700">
      <a:solidFill>
        <a:srgbClr val="404040"/>
      </a:solidFill>
    </a:ln>
  </c:spPr>
  <c:txPr>
    <a:bodyPr/>
    <a:lstStyle/>
    <a:p>
      <a:pPr>
        <a:defRPr/>
      </a:pPr>
      <a:endParaRPr lang="en-US"/>
    </a:p>
  </c:txPr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/>
              <a:t>10pt text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0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overlay val="0"/>
      <c:txPr>
        <a:bodyPr/>
        <a:lstStyle/>
        <a:p>
          <a:pPr>
            <a:defRPr sz="1862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17</c:v>
                </c:pt>
                <c:pt idx="7">
                  <c:v>16</c:v>
                </c:pt>
                <c:pt idx="8">
                  <c:v>13</c:v>
                </c:pt>
                <c:pt idx="9">
                  <c:v>9</c:v>
                </c:pt>
                <c:pt idx="10">
                  <c:v>6</c:v>
                </c:pt>
                <c:pt idx="11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10</c:v>
                </c:pt>
                <c:pt idx="4">
                  <c:v>14</c:v>
                </c:pt>
                <c:pt idx="5">
                  <c:v>17</c:v>
                </c:pt>
                <c:pt idx="6">
                  <c:v>19</c:v>
                </c:pt>
                <c:pt idx="7">
                  <c:v>18</c:v>
                </c:pt>
                <c:pt idx="8">
                  <c:v>14</c:v>
                </c:pt>
                <c:pt idx="9">
                  <c:v>10</c:v>
                </c:pt>
                <c:pt idx="10">
                  <c:v>7</c:v>
                </c:pt>
                <c:pt idx="11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Smooth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Gappy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2">
                  <c:v>5</c:v>
                </c:pt>
                <c:pt idx="3">
                  <c:v>6</c:v>
                </c:pt>
                <c:pt idx="5">
                  <c:v>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dLbls>
          <c:spPr>
            <a:noFill/>
            <a:ln>
              <a:noFill/>
            </a:ln>
            <a:effectLst/>
          </c:spPr>
          <c:txPr>
            <a:bodyPr/>
            <a:lstStyle/>
            <a:p>
              <a:pPr>
                <a:defRPr sz="1197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area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area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area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overlay val="0"/>
      <c:txPr>
        <a:bodyPr/>
        <a:lstStyle/>
        <a:p>
          <a:pPr>
            <a:defRPr sz="1862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pPr>
            <a:noFill/>
            <a:ln>
              <a:noFill/>
            </a:ln>
            <a:effectLst/>
          </c:spPr>
          <c:txPr>
            <a:bodyPr/>
            <a:lstStyle/>
            <a:p>
              <a:pPr>
                <a:defRPr sz="1197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pPr>
            <a:noFill/>
            <a:ln>
              <a:noFill/>
            </a:ln>
            <a:effectLst/>
          </c:spPr>
          <c:txPr>
            <a:bodyPr/>
            <a:lstStyle/>
            <a:p>
              <a:pPr>
                <a:defRPr sz="1197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explosion val="15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firstSliceAng val="9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Sheet1!$A$2:$A$10</c:f>
              <c:strCache>
                <c:ptCount val="9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20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Sheet1!$A$2:$A$11</c:f>
              <c:strCache>
                <c:ptCount val="10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  <c:pt idx="6">
                  <c:v>Category 7</c:v>
                </c:pt>
                <c:pt idx="7">
                  <c:v>Category 8</c:v>
                </c:pt>
                <c:pt idx="8">
                  <c:v>Category 9</c:v>
                </c:pt>
                <c:pt idx="9">
                  <c:v>Category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</c:v>
                </c:pt>
                <c:pt idx="1">
                  <c:v>20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</c:ser>
        <c:dLbls>
          <c:spPr>
            <a:noFill/>
            <a:ln>
              <a:noFill/>
            </a:ln>
            <a:effectLst/>
          </c:spPr>
          <c:txPr>
            <a:bodyPr/>
            <a:lstStyle/>
            <a:p>
              <a:pPr>
                <a:defRPr sz="1197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  <c:dispBlanksAs val="gap"/>
  </c:chart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overlay val="0"/>
      <c:txPr>
        <a:bodyPr/>
        <a:lstStyle/>
        <a:p>
          <a:pPr>
            <a:defRPr sz="1862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overlay val="0"/>
      <c:txPr>
        <a:bodyPr/>
        <a:lstStyle/>
        <a:p>
          <a:pPr>
            <a:defRPr sz="1862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  <c:pt idx="3">
                  <c:v>3.9</c:v>
                </c:pt>
                <c:pt idx="4">
                  <c:v>5.2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  <c:pt idx="3">
                  <c:v>4.1</c:v>
                </c:pt>
                <c:pt idx="4">
                  <c:v>2.2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35</c:v>
                </c:pt>
                <c:pt idx="4">
                  <c:v>50</c:v>
                </c:pt>
                <c:pt idx="5">
                  <c:v>80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35</c:v>
                </c:pt>
                <c:pt idx="4">
                  <c:v>50</c:v>
                </c:pt>
                <c:pt idx="5">
                  <c:v>80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8</c:v>
                </c:pt>
                <c:pt idx="3">
                  <c:v>12</c:v>
                </c:pt>
                <c:pt idx="4">
                  <c:v>30</c:v>
                </c:pt>
                <c:pt idx="5">
                  <c:v>28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Sheet1!$A$2:$A$7</c:f>
              <c:numCache>
                <c:formatCode>General</c:formatCode>
                <c:ptCount val="6"/>
                <c:pt idx="0">
                  <c:v>-3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  <c:pt idx="5">
                  <c:v>16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4.5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15</c:v>
                </c:pt>
                <c:pt idx="3">
                  <c:v>30</c:v>
                </c:pt>
              </c:numCache>
            </c:numRef>
          </c:yVal>
          <c:bubbleSize>
            <c:numRef>
              <c:f>Sheet1!$Z$2:$Z$5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2</c:v>
                </c:pt>
                <c:pt idx="3">
                  <c:v>12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0"/>
        <c:axId val="20"/>
      </c:bubbleChart>
      <c:val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Speed</c:v>
                </c:pt>
                <c:pt idx="1">
                  <c:v>Power</c:v>
                </c:pt>
                <c:pt idx="2">
                  <c:v>Range</c:v>
                </c:pt>
                <c:pt idx="3">
                  <c:v>Cost</c:v>
                </c:pt>
                <c:pt idx="4">
                  <c:v>Comfort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Speed</c:v>
                </c:pt>
                <c:pt idx="1">
                  <c:v>Power</c:v>
                </c:pt>
                <c:pt idx="2">
                  <c:v>Range</c:v>
                </c:pt>
                <c:pt idx="3">
                  <c:v>Cost</c:v>
                </c:pt>
                <c:pt idx="4">
                  <c:v>Comfort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rad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Speed</c:v>
                </c:pt>
                <c:pt idx="1">
                  <c:v>Power</c:v>
                </c:pt>
                <c:pt idx="2">
                  <c:v>Range</c:v>
                </c:pt>
                <c:pt idx="3">
                  <c:v>Cost</c:v>
                </c:pt>
                <c:pt idx="4">
                  <c:v>Comfort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rad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62" b="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/>
              <a:t>Units and margin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90</c:v>
                </c:pt>
                <c:pt idx="3">
                  <c:v>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</c:ser>
        <c:gapWidth val="219"/>
        <c:overlap val="-27"/>
        <c:axId val="10"/>
        <c:axId val="2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Margin 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0.21</c:v>
                </c:pt>
                <c:pt idx="1">
                  <c:v>0.24</c:v>
                </c:pt>
                <c:pt idx="2">
                  <c:v>0.18</c:v>
                </c:pt>
                <c:pt idx="3">
                  <c:v>0.27</c:v>
                </c:pt>
              </c:numCache>
            </c:numRef>
          </c:val>
          <c:smooth val="0"/>
        </c:ser>
        <c:marker val="1"/>
        <c:axId val="30"/>
        <c:axId val="4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catAx>
        <c:axId val="3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"/>
        <c:crosses val="autoZero"/>
        <c:auto val="1"/>
        <c:lblAlgn val="ctr"/>
        <c:lblOffset val="100"/>
        <c:noMultiLvlLbl val="0"/>
      </c:catAx>
      <c:valAx>
        <c:axId val="4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7</c:v>
                </c:pt>
                <c:pt idx="2">
                  <c:v>6</c:v>
                </c:pt>
                <c:pt idx="3">
                  <c:v>9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</c:ser>
        <c:gapWidth val="219"/>
        <c:overlap val="-27"/>
        <c:axId val="10"/>
        <c:axId val="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8</c:v>
                </c:pt>
                <c:pt idx="5">
                  <c:v>8</c:v>
                </c:pt>
              </c:numCache>
            </c:numRef>
          </c:val>
          <c:smooth val="0"/>
        </c:ser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الربع الأول</c:v>
                </c:pt>
                <c:pt idx="1">
                  <c:v>الربع الثاني</c:v>
                </c:pt>
                <c:pt idx="2">
                  <c:v>الربع الثالث</c:v>
                </c:pt>
                <c:pt idx="3">
                  <c:v>الربع الرابع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الربع الأول</c:v>
                </c:pt>
                <c:pt idx="1">
                  <c:v>الربع الثاني</c:v>
                </c:pt>
                <c:pt idx="2">
                  <c:v>الربع الثالث</c:v>
                </c:pt>
                <c:pt idx="3">
                  <c:v>الربع الرابع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المبيعات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التكاليف الإجمالية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صافي الربح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الحصة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الشرق الأوسط</c:v>
                </c:pt>
                <c:pt idx="1">
                  <c:v>أوروبا</c:v>
                </c:pt>
                <c:pt idx="2">
                  <c:v>آسيا والمحيط الهادئ</c:v>
                </c:pt>
                <c:pt idx="3">
                  <c:v>أمريكا الشمالية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pPr>
            <a:noFill/>
            <a:ln>
              <a:noFill/>
            </a:ln>
            <a:effectLst/>
          </c:spPr>
          <c:txPr>
            <a:bodyPr/>
            <a:lstStyle/>
            <a:p>
              <a:pPr>
                <a:defRPr sz="1197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62" b="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/>
              <a:t>تقرير المبيعات الفصلية للمنطقة الشرقية مقارنة بالعام الماضي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الربع 1 2024</c:v>
                </c:pt>
                <c:pt idx="1">
                  <c:v>الربع ٢ 2024</c:v>
                </c:pt>
                <c:pt idx="2">
                  <c:v>Q3 الثالث</c:v>
                </c:pt>
                <c:pt idx="3">
                  <c:v>الشهر 12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الربع الأول</c:v>
                </c:pt>
                <c:pt idx="1">
                  <c:v>الربع الثاني</c:v>
                </c:pt>
                <c:pt idx="2">
                  <c:v>الربع الثالث</c:v>
                </c:pt>
                <c:pt idx="3">
                  <c:v>الربع الرابع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الربع الأول</c:v>
                </c:pt>
                <c:pt idx="1">
                  <c:v>الربع الثاني</c:v>
                </c:pt>
                <c:pt idx="2">
                  <c:v>الربع الثالث</c:v>
                </c:pt>
                <c:pt idx="3">
                  <c:v>الربع الرابع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Northern region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Southern region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Eastern region sales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Western region sales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Central region sales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Overseas sales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Region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Region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Region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Region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Region 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Region 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Region 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Sheet1!$J$2:$J$5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Region 10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Sheet1!$K$2:$K$5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Region 11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Sheet1!$L$2:$L$5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Region 12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Sheet1!$M$2:$M$5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line number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line number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line number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  <c:pt idx="2">
                  <c:v>4</c:v>
                </c:pt>
                <c:pt idx="3">
                  <c:v>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Product line number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Product line number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Product line number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Product line number 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6</c:v>
                </c:pt>
                <c:pt idx="1">
                  <c:v>2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Product line number 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Northern Europe and Scandinavia</c:v>
                </c:pt>
                <c:pt idx="1">
                  <c:v>Southern Europe</c:v>
                </c:pt>
                <c:pt idx="2">
                  <c:v>North Africa and Levant</c:v>
                </c:pt>
                <c:pt idx="3">
                  <c:v>Gulf states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pPr>
            <a:noFill/>
            <a:ln>
              <a:noFill/>
            </a:ln>
            <a:effectLst/>
          </c:spPr>
          <c:txPr>
            <a:bodyPr/>
            <a:lstStyle/>
            <a:p>
              <a:pPr>
                <a:defRPr sz="1197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Sheet1!$A$2:$A$11</c:f>
              <c:numCache>
                <c:formatCode>m/d/yyyy</c:formatCode>
                <c:ptCount val="10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10</c:v>
                </c:pt>
                <c:pt idx="6">
                  <c:v>14</c:v>
                </c:pt>
                <c:pt idx="7">
                  <c:v>13</c:v>
                </c:pt>
                <c:pt idx="8">
                  <c:v>11</c:v>
                </c:pt>
                <c:pt idx="9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date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Offset val="100"/>
      </c:date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</c:f>
              <c:numCache>
                <c:formatCode>m/d/yyyy</c:formatCode>
                <c:ptCount val="4"/>
                <c:pt idx="0">
                  <c:v>45292</c:v>
                </c:pt>
                <c:pt idx="1">
                  <c:v>45293</c:v>
                </c:pt>
                <c:pt idx="2">
                  <c:v>45323</c:v>
                </c:pt>
                <c:pt idx="3">
                  <c:v>45324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axId val="10"/>
        <c:axId val="20"/>
      </c:lineChart>
      <c:date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Offset val="100"/>
      </c:date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Sheet1!$A$2:$A$7</c:f>
              <c:numCache>
                <c:formatCode>m/d/yyyy</c:formatCode>
                <c:ptCount val="6"/>
                <c:pt idx="0">
                  <c:v>45292</c:v>
                </c:pt>
                <c:pt idx="1">
                  <c:v>45320</c:v>
                </c:pt>
                <c:pt idx="2">
                  <c:v>45348</c:v>
                </c:pt>
                <c:pt idx="3">
                  <c:v>45376</c:v>
                </c:pt>
                <c:pt idx="4">
                  <c:v>45404</c:v>
                </c:pt>
                <c:pt idx="5">
                  <c:v>45432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9</c:v>
                </c:pt>
                <c:pt idx="4">
                  <c:v>7</c:v>
                </c:pt>
                <c:pt idx="5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date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Offset val="100"/>
      </c:date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m/d/yyyy</c:formatCode>
                <c:ptCount val="12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17</c:v>
                </c:pt>
                <c:pt idx="7">
                  <c:v>16</c:v>
                </c:pt>
                <c:pt idx="8">
                  <c:v>13</c:v>
                </c:pt>
                <c:pt idx="9">
                  <c:v>9</c:v>
                </c:pt>
                <c:pt idx="10">
                  <c:v>6</c:v>
                </c:pt>
                <c:pt idx="11">
                  <c:v>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axId val="10"/>
        <c:axId val="20"/>
      </c:lineChart>
      <c:date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Offset val="100"/>
      </c:date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Sheet1!$A$2:$A$9</c:f>
              <c:numCache>
                <c:formatCode>m/d/yyyy</c:formatCode>
                <c:ptCount val="8"/>
                <c:pt idx="0">
                  <c:v>42736</c:v>
                </c:pt>
                <c:pt idx="1">
                  <c:v>43101</c:v>
                </c:pt>
                <c:pt idx="2">
                  <c:v>43466</c:v>
                </c:pt>
                <c:pt idx="3">
                  <c:v>43831</c:v>
                </c:pt>
                <c:pt idx="4">
                  <c:v>44197</c:v>
                </c:pt>
                <c:pt idx="5">
                  <c:v>44562</c:v>
                </c:pt>
                <c:pt idx="6">
                  <c:v>44927</c:v>
                </c:pt>
                <c:pt idx="7">
                  <c:v>45292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10</c:v>
                </c:pt>
                <c:pt idx="6">
                  <c:v>14</c:v>
                </c:pt>
                <c:pt idx="7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date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Offset val="100"/>
      </c:date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date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Offset val="100"/>
      </c:date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Sheet1!$A$2:$B$9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</c:lvl>
                <c:lvl>
                  <c:pt idx="0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9</c:v>
                </c:pt>
                <c:pt idx="4">
                  <c:v>7</c:v>
                </c:pt>
                <c:pt idx="5">
                  <c:v>10</c:v>
                </c:pt>
                <c:pt idx="6">
                  <c:v>8</c:v>
                </c:pt>
                <c:pt idx="7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marker>
            <c:symbol val="circle"/>
            <c:size val="5"/>
          </c:marker>
          <c:trendline>
            <c:trendlineType val="linear"/>
            <c:dispRSqr val="0"/>
            <c:dispEq val="0"/>
          </c:trendline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3.9</c:v>
                </c:pt>
                <c:pt idx="2">
                  <c:v>6.2</c:v>
                </c:pt>
                <c:pt idx="3">
                  <c:v>7.8</c:v>
                </c:pt>
                <c:pt idx="4">
                  <c:v>10.1</c:v>
                </c:pt>
                <c:pt idx="5">
                  <c:v>12.2</c:v>
                </c:pt>
              </c:numCache>
            </c:numRef>
          </c:yVal>
          <c:smooth val="0"/>
        </c:ser>
        <c:axId val="10"/>
        <c:axId val="20"/>
      </c:scatterChart>
      <c:val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midCat"/>
      </c:valAx>
    </c:plotArea>
    <c:plotVisOnly val="1"/>
    <c:dispBlanksAs val="gap"/>
  </c:chart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trendlineType val="poly"/>
            <c:order val="2"/>
            <c:dispRSqr val="1"/>
            <c:dispEq val="1"/>
            <c:trendlineLbl>
              <c:numFmt formatCode="General" sourceLinked="0"/>
            </c:trendlineLbl>
          </c:trendline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trendline>
            <c:trendlineType val="movingAvg"/>
            <c:period val="2"/>
            <c:dispRSqr val="0"/>
            <c:dispEq val="0"/>
          </c:trendline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7</c:v>
                </c:pt>
                <c:pt idx="2">
                  <c:v>4</c:v>
                </c:pt>
                <c:pt idx="3">
                  <c:v>8</c:v>
                </c:pt>
                <c:pt idx="4">
                  <c:v>5</c:v>
                </c:pt>
                <c:pt idx="5">
                  <c:v>9</c:v>
                </c:pt>
                <c:pt idx="6">
                  <c:v>6</c:v>
                </c:pt>
                <c:pt idx="7">
                  <c:v>10</c:v>
                </c:pt>
              </c:numCache>
            </c:numRef>
          </c:val>
          <c:smooth val="0"/>
        </c:ser>
        <c:marker val="1"/>
        <c:axId val="10"/>
        <c:axId val="20"/>
      </c:lineChart>
      <c:cat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errBars>
            <c:errBarType val="both"/>
            <c:errValType val="stdDev"/>
            <c:noEndCap val="0"/>
            <c:val val="1"/>
          </c:errBar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</c:ser>
        <c:axId val="10"/>
        <c:axId val="20"/>
      </c:barChart>
      <c:cat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errBars>
            <c:errBarType val="both"/>
            <c:errValType val="stdErr"/>
            <c:noEndCap val="0"/>
          </c:errBar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</c:ser>
        <c:axId val="10"/>
        <c:axId val="20"/>
      </c:barChart>
      <c:cat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invertIfNegative val="0"/>
          <c:errBars>
            <c:errBarType val="both"/>
            <c:errValType val="fixedVal"/>
            <c:noEndCap val="0"/>
            <c:val val="1"/>
          </c:errBar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invertIfNegative val="0"/>
          <c:errBars>
            <c:errBarType val="both"/>
            <c:errValType val="percentage"/>
            <c:noEndCap val="0"/>
            <c:val val="10"/>
          </c:errBar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</c:ser>
        <c:axId val="10"/>
        <c:axId val="20"/>
      </c:barChart>
      <c:cat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23</c:v>
                </c:pt>
                <c:pt idx="2">
                  <c:v>21.5</c:v>
                </c:pt>
                <c:pt idx="3">
                  <c:v>22</c:v>
                </c:pt>
                <c:pt idx="4">
                  <c:v>25</c:v>
                </c:pt>
                <c:pt idx="5">
                  <c:v>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</c:v>
                </c:pt>
                <c:pt idx="1">
                  <c:v>25.5</c:v>
                </c:pt>
                <c:pt idx="2">
                  <c:v>22.5</c:v>
                </c:pt>
                <c:pt idx="3">
                  <c:v>26</c:v>
                </c:pt>
                <c:pt idx="4">
                  <c:v>27</c:v>
                </c:pt>
                <c:pt idx="5">
                  <c:v>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18.5</c:v>
                </c:pt>
                <c:pt idx="1">
                  <c:v>21</c:v>
                </c:pt>
                <c:pt idx="2">
                  <c:v>19</c:v>
                </c:pt>
                <c:pt idx="3">
                  <c:v>21.5</c:v>
                </c:pt>
                <c:pt idx="4">
                  <c:v>22.5</c:v>
                </c:pt>
                <c:pt idx="5">
                  <c:v>20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23</c:v>
                </c:pt>
                <c:pt idx="1">
                  <c:v>21.5</c:v>
                </c:pt>
                <c:pt idx="2">
                  <c:v>22</c:v>
                </c:pt>
                <c:pt idx="3">
                  <c:v>25</c:v>
                </c:pt>
                <c:pt idx="4">
                  <c:v>23</c:v>
                </c:pt>
                <c:pt idx="5">
                  <c:v>20.5</c:v>
                </c:pt>
              </c:numCache>
            </c:numRef>
          </c:val>
          <c:smooth val="0"/>
        </c:ser>
        <c:hiLowLines/>
        <c:upDownBars>
          <c:gapWidth val="150"/>
          <c:upBars/>
          <c:downBars/>
        </c:upDownBars>
        <c:axId val="10"/>
        <c:axId val="20"/>
      </c:stockChart>
      <c:catAx>
        <c:axId val="10"/>
        <c:scaling>
          <c:orientation val="minMax"/>
        </c:scaling>
        <c:delete val="0"/>
        <c:axPos val="b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tickLblPos val="nextTo"/>
        <c:crossAx val="10"/>
        <c:crosses val="autoZero"/>
        <c:crossBetween val="between"/>
      </c:valAx>
    </c:plotArea>
    <c:plotVisOnly val="1"/>
    <c:dispBlanksAs val="gap"/>
  </c:chart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Sheet1!$D$2:$D$5</c15:f>
                <c15:dlblRangeCache>
                  <c:ptCount val="4"/>
                  <c:pt idx="0">
                    <c:v>Low</c:v>
                  </c:pt>
                  <c:pt idx="1">
                    <c:v>Mid</c:v>
                  </c:pt>
                  <c:pt idx="2">
                    <c:v>High</c:v>
                  </c:pt>
                  <c:pt idx="3">
                    <c:v>Peak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Lbls>
            <c:dLbl>
              <c:idx val="0"/>
              <c:layout>
                <c:manualLayout>
                  <c:x val="0.08"/>
                  <c:y val="-0.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8"/>
                  <c:y val="0.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8"/>
                  <c:y val="0.0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0.08"/>
                  <c:y val="-0.0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firstSliceAng val="0"/>
      </c:pieChart>
    </c:plotArea>
    <c:plotVisOnly val="1"/>
    <c:dispBlanksAs val="gap"/>
  </c:chart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col-default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col-notitle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col-stacked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col-percent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bar-clustered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bar-stacked-neg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col-negative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col-thousands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col-currency-dlbl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col-dlbl-ctr-stacked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col-gap50-ovl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col-gap500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col-small-values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col-big-range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col-fixed-scale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col-reversed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col-long-labels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col-many-cats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col-dates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col-axis-titles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col-legend-top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col-legend-left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col-legend-tr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320040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col-small-frame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3657600" cy="5943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col-tall-frame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col-manual-plot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col-manual-outer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col-ticks-cross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col-arabic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col-many-series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col-20-series-legend-r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col-20-series-legend-b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col-long-names-legend-r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col-bare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col-bare-style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bar-bare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col-bare-dlbl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col-chartarea-fill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col-text-10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line-default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line-markers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line-months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line-smooth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line-stacked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line-gaps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line-dlbl-top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line-bare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area-standard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area-stacked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area-percent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pie-default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pie-labels-bestfit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pie-outend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pie-explode-rot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pie-many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pie-busy-outend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pie-bare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doughnut-default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doughnut-hole50-2ser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scatter-markers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scatter-lines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scatter-smooth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bubble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radar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radar-filled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combo-bar-line-2ax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combo-bar-line-1ax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ar-col-clustered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ar-legend-right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ar-pie-labels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41148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ar-title-wrap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ar-digits-cats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ar-col-reversed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g-legend-r-mid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g-legend-b-12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g-legend-t-long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g-pie-bestfit-long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g-date-days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g-date-gaps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g-date-28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g-date-months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g-date-years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g-date-general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g-multilevel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g-trend-linear-bare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g-trend-poly-eq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g-trend-movavg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g-err-stddev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g-err-stderr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g-err-fixed-pct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g-stock-bare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g-dlbl-cells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685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g-pie-leaders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